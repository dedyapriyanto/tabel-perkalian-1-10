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Calibri" panose="020F0502020204030204" pitchFamily="34" charset="0"/>
      <p:regular r:id="rId14"/>
      <p:bold r:id="rId15"/>
      <p:italic r:id="rId16"/>
      <p:boldItalic r:id="rId17"/>
    </p:embeddedFont>
    <p:embeddedFont>
      <p:font typeface="HS Alwafa digital" panose="020B0604020202020204" charset="-78"/>
      <p:regular r:id="rId18"/>
    </p:embeddedFont>
    <p:embeddedFont>
      <p:font typeface="Lora" pitchFamily="2" charset="0"/>
      <p:regular r:id="rId19"/>
      <p:bold r:id="rId20"/>
      <p:italic r:id="rId21"/>
      <p:boldItalic r:id="rId22"/>
    </p:embeddedFont>
    <p:embeddedFont>
      <p:font typeface="เอฟซี ฟาสท์เทสท์" panose="020B0604020202020204" charset="-34"/>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4" d="100"/>
          <a:sy n="44" d="100"/>
        </p:scale>
        <p:origin x="450"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5.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image" Target="../media/image8.svg"/><Relationship Id="rId7" Type="http://schemas.openxmlformats.org/officeDocument/2006/relationships/image" Target="../media/image10.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2.svg"/><Relationship Id="rId10" Type="http://schemas.openxmlformats.org/officeDocument/2006/relationships/image" Target="../media/image13.svg"/><Relationship Id="rId4" Type="http://schemas.openxmlformats.org/officeDocument/2006/relationships/image" Target="../media/image1.png"/><Relationship Id="rId9" Type="http://schemas.openxmlformats.org/officeDocument/2006/relationships/image" Target="../media/image12.png"/></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5.svg"/><Relationship Id="rId7" Type="http://schemas.openxmlformats.org/officeDocument/2006/relationships/image" Target="../media/image10.sv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17.svg"/><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sv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3.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2.sv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3.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2.sv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3.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2.sv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17.sv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17.sv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17.svg"/></Relationships>
</file>

<file path=ppt/slides/_rels/slide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15.sv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7.xml"/><Relationship Id="rId5" Type="http://schemas.openxmlformats.org/officeDocument/2006/relationships/image" Target="../media/image17.sv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Freeform 2"/>
          <p:cNvSpPr/>
          <p:nvPr/>
        </p:nvSpPr>
        <p:spPr>
          <a:xfrm>
            <a:off x="1028700" y="1028700"/>
            <a:ext cx="16340361" cy="8229600"/>
          </a:xfrm>
          <a:custGeom>
            <a:avLst/>
            <a:gdLst/>
            <a:ahLst/>
            <a:cxnLst/>
            <a:rect l="l" t="t" r="r" b="b"/>
            <a:pathLst>
              <a:path w="16340361" h="8229600">
                <a:moveTo>
                  <a:pt x="0" y="0"/>
                </a:moveTo>
                <a:lnTo>
                  <a:pt x="16340361" y="0"/>
                </a:lnTo>
                <a:lnTo>
                  <a:pt x="16340361" y="8229600"/>
                </a:lnTo>
                <a:lnTo>
                  <a:pt x="0" y="82296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227081" y="893688"/>
            <a:ext cx="587247" cy="8499623"/>
          </a:xfrm>
          <a:custGeom>
            <a:avLst/>
            <a:gdLst/>
            <a:ahLst/>
            <a:cxnLst/>
            <a:rect l="l" t="t" r="r" b="b"/>
            <a:pathLst>
              <a:path w="587247" h="8499623">
                <a:moveTo>
                  <a:pt x="0" y="0"/>
                </a:moveTo>
                <a:lnTo>
                  <a:pt x="587246" y="0"/>
                </a:lnTo>
                <a:lnTo>
                  <a:pt x="587246" y="8499624"/>
                </a:lnTo>
                <a:lnTo>
                  <a:pt x="0" y="849962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3523587" y="3073071"/>
            <a:ext cx="1175108" cy="1433059"/>
          </a:xfrm>
          <a:custGeom>
            <a:avLst/>
            <a:gdLst/>
            <a:ahLst/>
            <a:cxnLst/>
            <a:rect l="l" t="t" r="r" b="b"/>
            <a:pathLst>
              <a:path w="1175108" h="1433059">
                <a:moveTo>
                  <a:pt x="0" y="0"/>
                </a:moveTo>
                <a:lnTo>
                  <a:pt x="1175108" y="0"/>
                </a:lnTo>
                <a:lnTo>
                  <a:pt x="1175108" y="1433059"/>
                </a:lnTo>
                <a:lnTo>
                  <a:pt x="0" y="143305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4847160" y="5594324"/>
            <a:ext cx="8722264" cy="1930402"/>
          </a:xfrm>
          <a:prstGeom prst="rect">
            <a:avLst/>
          </a:prstGeom>
        </p:spPr>
        <p:txBody>
          <a:bodyPr lIns="0" tIns="0" rIns="0" bIns="0" rtlCol="0" anchor="t">
            <a:spAutoFit/>
          </a:bodyPr>
          <a:lstStyle/>
          <a:p>
            <a:pPr algn="ctr">
              <a:lnSpc>
                <a:spcPts val="7492"/>
              </a:lnSpc>
            </a:pPr>
            <a:r>
              <a:rPr lang="en-US" sz="7136">
                <a:solidFill>
                  <a:srgbClr val="000000"/>
                </a:solidFill>
                <a:latin typeface="เอฟซี ฟาสท์เทสท์"/>
                <a:ea typeface="เอฟซี ฟาสท์เทสท์"/>
                <a:cs typeface="เอฟซี ฟาสท์เทสท์"/>
                <a:sym typeface="เอฟซี ฟาสท์เทสท์"/>
              </a:rPr>
              <a:t>DASAR SISTEM KOMPUTER</a:t>
            </a:r>
          </a:p>
        </p:txBody>
      </p:sp>
      <p:sp>
        <p:nvSpPr>
          <p:cNvPr id="6" name="Freeform 6"/>
          <p:cNvSpPr/>
          <p:nvPr/>
        </p:nvSpPr>
        <p:spPr>
          <a:xfrm>
            <a:off x="14197059" y="6507138"/>
            <a:ext cx="1175108" cy="1433059"/>
          </a:xfrm>
          <a:custGeom>
            <a:avLst/>
            <a:gdLst/>
            <a:ahLst/>
            <a:cxnLst/>
            <a:rect l="l" t="t" r="r" b="b"/>
            <a:pathLst>
              <a:path w="1175108" h="1433059">
                <a:moveTo>
                  <a:pt x="0" y="0"/>
                </a:moveTo>
                <a:lnTo>
                  <a:pt x="1175108" y="0"/>
                </a:lnTo>
                <a:lnTo>
                  <a:pt x="1175108" y="1433058"/>
                </a:lnTo>
                <a:lnTo>
                  <a:pt x="0" y="143305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TextBox 7"/>
          <p:cNvSpPr txBox="1"/>
          <p:nvPr/>
        </p:nvSpPr>
        <p:spPr>
          <a:xfrm>
            <a:off x="3044418" y="4328130"/>
            <a:ext cx="12327750" cy="1434233"/>
          </a:xfrm>
          <a:prstGeom prst="rect">
            <a:avLst/>
          </a:prstGeom>
        </p:spPr>
        <p:txBody>
          <a:bodyPr lIns="0" tIns="0" rIns="0" bIns="0" rtlCol="0" anchor="t">
            <a:spAutoFit/>
          </a:bodyPr>
          <a:lstStyle/>
          <a:p>
            <a:pPr algn="ctr">
              <a:lnSpc>
                <a:spcPts val="10974"/>
              </a:lnSpc>
            </a:pPr>
            <a:r>
              <a:rPr lang="en-US" sz="10452">
                <a:solidFill>
                  <a:srgbClr val="000000"/>
                </a:solidFill>
                <a:latin typeface="เอฟซี ฟาสท์เทสท์"/>
                <a:ea typeface="เอฟซี ฟาสท์เทสท์"/>
                <a:cs typeface="เอฟซี ฟาสท์เทสท์"/>
                <a:sym typeface="เอฟซี ฟาสท์เทสท์"/>
              </a:rPr>
              <a:t>TUGAS AKHIR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1648349" y="-183929"/>
            <a:ext cx="10654859" cy="10654859"/>
          </a:xfrm>
          <a:custGeom>
            <a:avLst/>
            <a:gdLst/>
            <a:ahLst/>
            <a:cxnLst/>
            <a:rect l="l" t="t" r="r" b="b"/>
            <a:pathLst>
              <a:path w="10654859" h="10654859">
                <a:moveTo>
                  <a:pt x="0" y="0"/>
                </a:moveTo>
                <a:lnTo>
                  <a:pt x="10654859" y="0"/>
                </a:lnTo>
                <a:lnTo>
                  <a:pt x="10654859" y="10654858"/>
                </a:lnTo>
                <a:lnTo>
                  <a:pt x="0" y="106548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028700" y="1028700"/>
            <a:ext cx="16340361" cy="8229600"/>
          </a:xfrm>
          <a:custGeom>
            <a:avLst/>
            <a:gdLst/>
            <a:ahLst/>
            <a:cxnLst/>
            <a:rect l="l" t="t" r="r" b="b"/>
            <a:pathLst>
              <a:path w="16340361" h="8229600">
                <a:moveTo>
                  <a:pt x="0" y="0"/>
                </a:moveTo>
                <a:lnTo>
                  <a:pt x="16340361" y="0"/>
                </a:lnTo>
                <a:lnTo>
                  <a:pt x="16340361" y="8229600"/>
                </a:lnTo>
                <a:lnTo>
                  <a:pt x="0" y="82296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flipH="1">
            <a:off x="16555767" y="9258300"/>
            <a:ext cx="775702" cy="593765"/>
          </a:xfrm>
          <a:custGeom>
            <a:avLst/>
            <a:gdLst/>
            <a:ahLst/>
            <a:cxnLst/>
            <a:rect l="l" t="t" r="r" b="b"/>
            <a:pathLst>
              <a:path w="775702" h="593765">
                <a:moveTo>
                  <a:pt x="775702" y="0"/>
                </a:moveTo>
                <a:lnTo>
                  <a:pt x="0" y="0"/>
                </a:lnTo>
                <a:lnTo>
                  <a:pt x="0" y="593765"/>
                </a:lnTo>
                <a:lnTo>
                  <a:pt x="775702" y="593765"/>
                </a:lnTo>
                <a:lnTo>
                  <a:pt x="775702"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5" name="Group 5"/>
          <p:cNvGrpSpPr>
            <a:grpSpLocks noChangeAspect="1"/>
          </p:cNvGrpSpPr>
          <p:nvPr/>
        </p:nvGrpSpPr>
        <p:grpSpPr>
          <a:xfrm>
            <a:off x="1772872" y="3916769"/>
            <a:ext cx="3174963" cy="3174963"/>
            <a:chOff x="0" y="0"/>
            <a:chExt cx="6350000" cy="6350000"/>
          </a:xfrm>
        </p:grpSpPr>
        <p:sp>
          <p:nvSpPr>
            <p:cNvPr id="6" name="Freeform 6"/>
            <p:cNvSpPr/>
            <p:nvPr/>
          </p:nvSpPr>
          <p:spPr>
            <a:xfrm>
              <a:off x="102870" y="638810"/>
              <a:ext cx="6149340" cy="5613400"/>
            </a:xfrm>
            <a:custGeom>
              <a:avLst/>
              <a:gdLst/>
              <a:ahLst/>
              <a:cxnLst/>
              <a:rect l="l" t="t" r="r" b="b"/>
              <a:pathLst>
                <a:path w="6149340" h="5613400">
                  <a:moveTo>
                    <a:pt x="6149340" y="5613400"/>
                  </a:moveTo>
                  <a:lnTo>
                    <a:pt x="0" y="5613400"/>
                  </a:lnTo>
                  <a:lnTo>
                    <a:pt x="0" y="0"/>
                  </a:lnTo>
                  <a:lnTo>
                    <a:pt x="6148070" y="0"/>
                  </a:lnTo>
                  <a:lnTo>
                    <a:pt x="6149340" y="5613400"/>
                  </a:lnTo>
                  <a:lnTo>
                    <a:pt x="6149340" y="5613400"/>
                  </a:lnTo>
                  <a:close/>
                </a:path>
              </a:pathLst>
            </a:custGeom>
            <a:blipFill>
              <a:blip r:embed="rId8"/>
              <a:stretch>
                <a:fillRect l="-18506" r="-18506"/>
              </a:stretch>
            </a:blipFill>
          </p:spPr>
        </p:sp>
        <p:sp>
          <p:nvSpPr>
            <p:cNvPr id="7" name="Freeform 7"/>
            <p:cNvSpPr/>
            <p:nvPr/>
          </p:nvSpPr>
          <p:spPr>
            <a:xfrm>
              <a:off x="102870" y="105410"/>
              <a:ext cx="6149340" cy="431800"/>
            </a:xfrm>
            <a:custGeom>
              <a:avLst/>
              <a:gdLst/>
              <a:ahLst/>
              <a:cxnLst/>
              <a:rect l="l" t="t" r="r" b="b"/>
              <a:pathLst>
                <a:path w="6149340" h="431800">
                  <a:moveTo>
                    <a:pt x="6149340" y="431800"/>
                  </a:moveTo>
                  <a:lnTo>
                    <a:pt x="0" y="431800"/>
                  </a:lnTo>
                  <a:lnTo>
                    <a:pt x="0" y="0"/>
                  </a:lnTo>
                  <a:lnTo>
                    <a:pt x="6148070" y="0"/>
                  </a:lnTo>
                  <a:lnTo>
                    <a:pt x="6149340" y="431800"/>
                  </a:lnTo>
                  <a:lnTo>
                    <a:pt x="6149340" y="431800"/>
                  </a:lnTo>
                  <a:close/>
                </a:path>
              </a:pathLst>
            </a:custGeom>
            <a:solidFill>
              <a:srgbClr val="ACDEDC"/>
            </a:solidFill>
          </p:spPr>
        </p:sp>
        <p:sp>
          <p:nvSpPr>
            <p:cNvPr id="8" name="Freeform 8"/>
            <p:cNvSpPr/>
            <p:nvPr/>
          </p:nvSpPr>
          <p:spPr>
            <a:xfrm>
              <a:off x="102870" y="105410"/>
              <a:ext cx="431800" cy="431800"/>
            </a:xfrm>
            <a:custGeom>
              <a:avLst/>
              <a:gdLst/>
              <a:ahLst/>
              <a:cxnLst/>
              <a:rect l="l" t="t" r="r" b="b"/>
              <a:pathLst>
                <a:path w="431800" h="431800">
                  <a:moveTo>
                    <a:pt x="431800" y="431800"/>
                  </a:moveTo>
                  <a:lnTo>
                    <a:pt x="0" y="431800"/>
                  </a:lnTo>
                  <a:lnTo>
                    <a:pt x="0" y="0"/>
                  </a:lnTo>
                  <a:lnTo>
                    <a:pt x="431800" y="0"/>
                  </a:lnTo>
                  <a:lnTo>
                    <a:pt x="431800" y="431800"/>
                  </a:lnTo>
                  <a:close/>
                </a:path>
              </a:pathLst>
            </a:custGeom>
            <a:solidFill>
              <a:srgbClr val="FACEE1"/>
            </a:solidFill>
          </p:spPr>
        </p:sp>
        <p:sp>
          <p:nvSpPr>
            <p:cNvPr id="9" name="Freeform 9"/>
            <p:cNvSpPr/>
            <p:nvPr/>
          </p:nvSpPr>
          <p:spPr>
            <a:xfrm>
              <a:off x="1270" y="3810"/>
              <a:ext cx="6352540" cy="6350000"/>
            </a:xfrm>
            <a:custGeom>
              <a:avLst/>
              <a:gdLst/>
              <a:ahLst/>
              <a:cxnLst/>
              <a:rect l="l" t="t" r="r" b="b"/>
              <a:pathLst>
                <a:path w="6352540" h="6350000">
                  <a:moveTo>
                    <a:pt x="0" y="0"/>
                  </a:moveTo>
                  <a:lnTo>
                    <a:pt x="0" y="533400"/>
                  </a:lnTo>
                  <a:lnTo>
                    <a:pt x="0" y="635000"/>
                  </a:lnTo>
                  <a:lnTo>
                    <a:pt x="0" y="6350000"/>
                  </a:lnTo>
                  <a:lnTo>
                    <a:pt x="6352540" y="6350000"/>
                  </a:lnTo>
                  <a:lnTo>
                    <a:pt x="6352540" y="635000"/>
                  </a:lnTo>
                  <a:lnTo>
                    <a:pt x="6352540" y="533400"/>
                  </a:lnTo>
                  <a:lnTo>
                    <a:pt x="6352540" y="0"/>
                  </a:lnTo>
                  <a:lnTo>
                    <a:pt x="0" y="0"/>
                  </a:lnTo>
                  <a:close/>
                  <a:moveTo>
                    <a:pt x="101600" y="101600"/>
                  </a:moveTo>
                  <a:lnTo>
                    <a:pt x="533400" y="101600"/>
                  </a:lnTo>
                  <a:lnTo>
                    <a:pt x="533400" y="533400"/>
                  </a:lnTo>
                  <a:lnTo>
                    <a:pt x="101600" y="533400"/>
                  </a:lnTo>
                  <a:lnTo>
                    <a:pt x="101600" y="101600"/>
                  </a:lnTo>
                  <a:close/>
                  <a:moveTo>
                    <a:pt x="6249670" y="6248400"/>
                  </a:moveTo>
                  <a:lnTo>
                    <a:pt x="101600" y="6248400"/>
                  </a:lnTo>
                  <a:lnTo>
                    <a:pt x="101600" y="635000"/>
                  </a:lnTo>
                  <a:lnTo>
                    <a:pt x="635000" y="635000"/>
                  </a:lnTo>
                  <a:lnTo>
                    <a:pt x="6249670" y="635000"/>
                  </a:lnTo>
                  <a:lnTo>
                    <a:pt x="6249670" y="6248400"/>
                  </a:lnTo>
                  <a:lnTo>
                    <a:pt x="6249670" y="6248400"/>
                  </a:lnTo>
                  <a:lnTo>
                    <a:pt x="6249670" y="6248400"/>
                  </a:lnTo>
                  <a:close/>
                  <a:moveTo>
                    <a:pt x="6250940" y="533400"/>
                  </a:moveTo>
                  <a:lnTo>
                    <a:pt x="636270" y="533400"/>
                  </a:lnTo>
                  <a:lnTo>
                    <a:pt x="636270" y="101600"/>
                  </a:lnTo>
                  <a:lnTo>
                    <a:pt x="6250940" y="101600"/>
                  </a:lnTo>
                  <a:lnTo>
                    <a:pt x="6250940" y="533400"/>
                  </a:lnTo>
                  <a:close/>
                  <a:moveTo>
                    <a:pt x="373380" y="317500"/>
                  </a:moveTo>
                  <a:lnTo>
                    <a:pt x="472440" y="416560"/>
                  </a:lnTo>
                  <a:lnTo>
                    <a:pt x="417830" y="471170"/>
                  </a:lnTo>
                  <a:lnTo>
                    <a:pt x="317500" y="372110"/>
                  </a:lnTo>
                  <a:lnTo>
                    <a:pt x="218440" y="471170"/>
                  </a:lnTo>
                  <a:lnTo>
                    <a:pt x="163830" y="416560"/>
                  </a:lnTo>
                  <a:lnTo>
                    <a:pt x="262890" y="317500"/>
                  </a:lnTo>
                  <a:lnTo>
                    <a:pt x="163830" y="218440"/>
                  </a:lnTo>
                  <a:lnTo>
                    <a:pt x="218440" y="163830"/>
                  </a:lnTo>
                  <a:lnTo>
                    <a:pt x="317500" y="262890"/>
                  </a:lnTo>
                  <a:lnTo>
                    <a:pt x="416560" y="163830"/>
                  </a:lnTo>
                  <a:lnTo>
                    <a:pt x="472440" y="218440"/>
                  </a:lnTo>
                  <a:lnTo>
                    <a:pt x="373380" y="317500"/>
                  </a:lnTo>
                  <a:close/>
                </a:path>
              </a:pathLst>
            </a:custGeom>
            <a:solidFill>
              <a:srgbClr val="6466AF"/>
            </a:solidFill>
          </p:spPr>
        </p:sp>
      </p:grpSp>
      <p:sp>
        <p:nvSpPr>
          <p:cNvPr id="10" name="Freeform 10"/>
          <p:cNvSpPr/>
          <p:nvPr/>
        </p:nvSpPr>
        <p:spPr>
          <a:xfrm>
            <a:off x="227081" y="893688"/>
            <a:ext cx="587247" cy="8499623"/>
          </a:xfrm>
          <a:custGeom>
            <a:avLst/>
            <a:gdLst/>
            <a:ahLst/>
            <a:cxnLst/>
            <a:rect l="l" t="t" r="r" b="b"/>
            <a:pathLst>
              <a:path w="587247" h="8499623">
                <a:moveTo>
                  <a:pt x="0" y="0"/>
                </a:moveTo>
                <a:lnTo>
                  <a:pt x="587246" y="0"/>
                </a:lnTo>
                <a:lnTo>
                  <a:pt x="587246" y="8499624"/>
                </a:lnTo>
                <a:lnTo>
                  <a:pt x="0" y="849962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1" name="TextBox 11"/>
          <p:cNvSpPr txBox="1"/>
          <p:nvPr/>
        </p:nvSpPr>
        <p:spPr>
          <a:xfrm>
            <a:off x="1392508" y="1402734"/>
            <a:ext cx="16230600" cy="897682"/>
          </a:xfrm>
          <a:prstGeom prst="rect">
            <a:avLst/>
          </a:prstGeom>
        </p:spPr>
        <p:txBody>
          <a:bodyPr lIns="0" tIns="0" rIns="0" bIns="0" rtlCol="0" anchor="t">
            <a:spAutoFit/>
          </a:bodyPr>
          <a:lstStyle/>
          <a:p>
            <a:pPr algn="ctr">
              <a:lnSpc>
                <a:spcPts val="6954"/>
              </a:lnSpc>
            </a:pPr>
            <a:r>
              <a:rPr lang="en-US" sz="6100">
                <a:solidFill>
                  <a:srgbClr val="000000"/>
                </a:solidFill>
                <a:latin typeface="เอฟซี ฟาสท์เทสท์"/>
                <a:ea typeface="เอฟซี ฟาสท์เทสท์"/>
                <a:cs typeface="เอฟซี ฟาสท์เทสท์"/>
                <a:sym typeface="เอฟซี ฟาสท์เทสท์"/>
              </a:rPr>
              <a:t>  PENSUSUNAN</a:t>
            </a:r>
            <a:endParaRPr lang="en-US" sz="6100" dirty="0">
              <a:solidFill>
                <a:srgbClr val="000000"/>
              </a:solidFill>
              <a:latin typeface="เอฟซี ฟาสท์เทสท์"/>
              <a:ea typeface="เอฟซี ฟาสท์เทสท์"/>
              <a:cs typeface="เอฟซี ฟาสท์เทสท์"/>
              <a:sym typeface="เอฟซี ฟาสท์เทสท์"/>
            </a:endParaRPr>
          </a:p>
        </p:txBody>
      </p:sp>
      <p:sp>
        <p:nvSpPr>
          <p:cNvPr id="12" name="TextBox 12"/>
          <p:cNvSpPr txBox="1"/>
          <p:nvPr/>
        </p:nvSpPr>
        <p:spPr>
          <a:xfrm>
            <a:off x="5538652" y="4759526"/>
            <a:ext cx="6372928" cy="615553"/>
          </a:xfrm>
          <a:prstGeom prst="rect">
            <a:avLst/>
          </a:prstGeom>
        </p:spPr>
        <p:txBody>
          <a:bodyPr lIns="0" tIns="0" rIns="0" bIns="0" rtlCol="0" anchor="t">
            <a:spAutoFit/>
          </a:bodyPr>
          <a:lstStyle/>
          <a:p>
            <a:pPr algn="ctr">
              <a:lnSpc>
                <a:spcPts val="4807"/>
              </a:lnSpc>
            </a:pPr>
            <a:r>
              <a:rPr lang="en-US" sz="4217" dirty="0">
                <a:solidFill>
                  <a:srgbClr val="000000"/>
                </a:solidFill>
                <a:latin typeface="+mj-lt"/>
                <a:ea typeface="HS Alwafa digital"/>
                <a:cs typeface="HS Alwafa digital"/>
                <a:sym typeface="HS Alwafa digital"/>
              </a:rPr>
              <a:t>DEDY APRIYANTO</a:t>
            </a:r>
          </a:p>
        </p:txBody>
      </p:sp>
      <p:sp>
        <p:nvSpPr>
          <p:cNvPr id="13" name="TextBox 13"/>
          <p:cNvSpPr txBox="1"/>
          <p:nvPr/>
        </p:nvSpPr>
        <p:spPr>
          <a:xfrm>
            <a:off x="6923644" y="5262530"/>
            <a:ext cx="3230082" cy="502566"/>
          </a:xfrm>
          <a:prstGeom prst="rect">
            <a:avLst/>
          </a:prstGeom>
        </p:spPr>
        <p:txBody>
          <a:bodyPr lIns="0" tIns="0" rIns="0" bIns="0" rtlCol="0" anchor="t">
            <a:spAutoFit/>
          </a:bodyPr>
          <a:lstStyle/>
          <a:p>
            <a:pPr algn="ctr">
              <a:lnSpc>
                <a:spcPts val="3936"/>
              </a:lnSpc>
            </a:pPr>
            <a:r>
              <a:rPr lang="en-US" sz="3453">
                <a:solidFill>
                  <a:srgbClr val="000000"/>
                </a:solidFill>
                <a:latin typeface="Lora"/>
                <a:ea typeface="Lora"/>
                <a:cs typeface="Lora"/>
                <a:sym typeface="Lora"/>
              </a:rPr>
              <a:t>2400018103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3848247" y="0"/>
            <a:ext cx="10591506" cy="10287000"/>
          </a:xfrm>
          <a:custGeom>
            <a:avLst/>
            <a:gdLst/>
            <a:ahLst/>
            <a:cxnLst/>
            <a:rect l="l" t="t" r="r" b="b"/>
            <a:pathLst>
              <a:path w="10591506" h="10287000">
                <a:moveTo>
                  <a:pt x="0" y="0"/>
                </a:moveTo>
                <a:lnTo>
                  <a:pt x="10591506" y="0"/>
                </a:lnTo>
                <a:lnTo>
                  <a:pt x="10591506" y="10287000"/>
                </a:lnTo>
                <a:lnTo>
                  <a:pt x="0" y="10287000"/>
                </a:lnTo>
                <a:lnTo>
                  <a:pt x="0" y="0"/>
                </a:lnTo>
                <a:close/>
              </a:path>
            </a:pathLst>
          </a:custGeom>
          <a:blipFill>
            <a:blip r:embed="rId2">
              <a:alphaModFix amt="15000"/>
              <a:extLst>
                <a:ext uri="{96DAC541-7B7A-43D3-8B79-37D633B846F1}">
                  <asvg:svgBlip xmlns:asvg="http://schemas.microsoft.com/office/drawing/2016/SVG/main" r:embed="rId3"/>
                </a:ext>
              </a:extLst>
            </a:blip>
            <a:stretch>
              <a:fillRect/>
            </a:stretch>
          </a:blipFill>
        </p:spPr>
      </p:sp>
      <p:sp>
        <p:nvSpPr>
          <p:cNvPr id="3" name="Freeform 3"/>
          <p:cNvSpPr/>
          <p:nvPr/>
        </p:nvSpPr>
        <p:spPr>
          <a:xfrm>
            <a:off x="1028700" y="2867958"/>
            <a:ext cx="10611213" cy="6984107"/>
          </a:xfrm>
          <a:custGeom>
            <a:avLst/>
            <a:gdLst/>
            <a:ahLst/>
            <a:cxnLst/>
            <a:rect l="l" t="t" r="r" b="b"/>
            <a:pathLst>
              <a:path w="10611213" h="6984107">
                <a:moveTo>
                  <a:pt x="0" y="0"/>
                </a:moveTo>
                <a:lnTo>
                  <a:pt x="10611213" y="0"/>
                </a:lnTo>
                <a:lnTo>
                  <a:pt x="10611213" y="6984107"/>
                </a:lnTo>
                <a:lnTo>
                  <a:pt x="0" y="698410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flipH="1">
            <a:off x="16555767" y="9258300"/>
            <a:ext cx="775702" cy="593765"/>
          </a:xfrm>
          <a:custGeom>
            <a:avLst/>
            <a:gdLst/>
            <a:ahLst/>
            <a:cxnLst/>
            <a:rect l="l" t="t" r="r" b="b"/>
            <a:pathLst>
              <a:path w="775702" h="593765">
                <a:moveTo>
                  <a:pt x="775702" y="0"/>
                </a:moveTo>
                <a:lnTo>
                  <a:pt x="0" y="0"/>
                </a:lnTo>
                <a:lnTo>
                  <a:pt x="0" y="593765"/>
                </a:lnTo>
                <a:lnTo>
                  <a:pt x="775702" y="593765"/>
                </a:lnTo>
                <a:lnTo>
                  <a:pt x="775702"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2622051" y="914400"/>
            <a:ext cx="13043897" cy="1010862"/>
          </a:xfrm>
          <a:prstGeom prst="rect">
            <a:avLst/>
          </a:prstGeom>
        </p:spPr>
        <p:txBody>
          <a:bodyPr lIns="0" tIns="0" rIns="0" bIns="0" rtlCol="0" anchor="t">
            <a:spAutoFit/>
          </a:bodyPr>
          <a:lstStyle/>
          <a:p>
            <a:pPr algn="ctr">
              <a:lnSpc>
                <a:spcPts val="8285"/>
              </a:lnSpc>
            </a:pPr>
            <a:r>
              <a:rPr lang="en-US" sz="5918" dirty="0" err="1">
                <a:solidFill>
                  <a:srgbClr val="FFFFFF"/>
                </a:solidFill>
                <a:latin typeface="เอฟซี ฟาสท์เทสท์"/>
                <a:ea typeface="เอฟซี ฟาสท์เทสท์"/>
                <a:cs typeface="เอฟซี ฟาสท์เทสท์"/>
                <a:sym typeface="เอฟซี ฟาสท์เทสท์"/>
              </a:rPr>
              <a:t>Deskripsi</a:t>
            </a:r>
            <a:r>
              <a:rPr lang="en-US" sz="5918" dirty="0">
                <a:solidFill>
                  <a:srgbClr val="FFFFFF"/>
                </a:solidFill>
                <a:latin typeface="เอฟซี ฟาสท์เทสท์"/>
                <a:ea typeface="เอฟซี ฟาสท์เทสท์"/>
                <a:cs typeface="เอฟซี ฟาสท์เทสท์"/>
                <a:sym typeface="เอฟซี ฟาสท์เทสท์"/>
              </a:rPr>
              <a:t> </a:t>
            </a:r>
            <a:r>
              <a:rPr lang="en-US" sz="5918" dirty="0" err="1">
                <a:solidFill>
                  <a:srgbClr val="FFFFFF"/>
                </a:solidFill>
                <a:latin typeface="เอฟซี ฟาสท์เทสท์"/>
                <a:ea typeface="เอฟซี ฟาสท์เทสท์"/>
                <a:cs typeface="เอฟซี ฟาสท์เทสท์"/>
                <a:sym typeface="เอฟซี ฟาสท์เทสท์"/>
              </a:rPr>
              <a:t>sederhana</a:t>
            </a:r>
            <a:endParaRPr lang="en-US" sz="5918" dirty="0">
              <a:solidFill>
                <a:srgbClr val="FFFFFF"/>
              </a:solidFill>
              <a:latin typeface="เอฟซี ฟาสท์เทสท์"/>
              <a:ea typeface="เอฟซี ฟาสท์เทสท์"/>
              <a:cs typeface="เอฟซี ฟาสท์เทสท์"/>
              <a:sym typeface="เอฟซี ฟาสท์เทสท์"/>
            </a:endParaRPr>
          </a:p>
        </p:txBody>
      </p:sp>
      <p:sp>
        <p:nvSpPr>
          <p:cNvPr id="6" name="TextBox 6"/>
          <p:cNvSpPr txBox="1"/>
          <p:nvPr/>
        </p:nvSpPr>
        <p:spPr>
          <a:xfrm>
            <a:off x="1268275" y="4574372"/>
            <a:ext cx="10371637" cy="4376198"/>
          </a:xfrm>
          <a:prstGeom prst="rect">
            <a:avLst/>
          </a:prstGeom>
        </p:spPr>
        <p:txBody>
          <a:bodyPr lIns="0" tIns="0" rIns="0" bIns="0" rtlCol="0" anchor="t">
            <a:spAutoFit/>
          </a:bodyPr>
          <a:lstStyle/>
          <a:p>
            <a:pPr algn="l">
              <a:lnSpc>
                <a:spcPts val="4900"/>
              </a:lnSpc>
            </a:pPr>
            <a:r>
              <a:rPr lang="en-US" sz="3500" dirty="0" err="1">
                <a:solidFill>
                  <a:srgbClr val="000000"/>
                </a:solidFill>
                <a:latin typeface="+mj-lt"/>
                <a:ea typeface="HS Alwafa digital"/>
                <a:cs typeface="HS Alwafa digital"/>
                <a:sym typeface="HS Alwafa digital"/>
              </a:rPr>
              <a:t>Kotabel</a:t>
            </a:r>
            <a:r>
              <a:rPr lang="en-US" sz="3500" dirty="0">
                <a:solidFill>
                  <a:srgbClr val="000000"/>
                </a:solidFill>
                <a:latin typeface="+mj-lt"/>
                <a:ea typeface="HS Alwafa digital"/>
                <a:cs typeface="HS Alwafa digital"/>
                <a:sym typeface="HS Alwafa digital"/>
              </a:rPr>
              <a:t> </a:t>
            </a:r>
            <a:r>
              <a:rPr lang="en-US" sz="3500" dirty="0" err="1">
                <a:solidFill>
                  <a:srgbClr val="000000"/>
                </a:solidFill>
                <a:latin typeface="+mj-lt"/>
                <a:ea typeface="HS Alwafa digital"/>
                <a:cs typeface="HS Alwafa digital"/>
                <a:sym typeface="HS Alwafa digital"/>
              </a:rPr>
              <a:t>perkalian</a:t>
            </a:r>
            <a:r>
              <a:rPr lang="en-US" sz="3500" dirty="0">
                <a:solidFill>
                  <a:srgbClr val="000000"/>
                </a:solidFill>
                <a:latin typeface="+mj-lt"/>
                <a:ea typeface="HS Alwafa digital"/>
                <a:cs typeface="HS Alwafa digital"/>
                <a:sym typeface="HS Alwafa digital"/>
              </a:rPr>
              <a:t> </a:t>
            </a:r>
            <a:r>
              <a:rPr lang="en-US" sz="3500" dirty="0" err="1">
                <a:solidFill>
                  <a:srgbClr val="000000"/>
                </a:solidFill>
                <a:latin typeface="+mj-lt"/>
                <a:ea typeface="HS Alwafa digital"/>
                <a:cs typeface="HS Alwafa digital"/>
                <a:sym typeface="HS Alwafa digital"/>
              </a:rPr>
              <a:t>dalam</a:t>
            </a:r>
            <a:r>
              <a:rPr lang="en-US" sz="3500" dirty="0">
                <a:solidFill>
                  <a:srgbClr val="000000"/>
                </a:solidFill>
                <a:latin typeface="+mj-lt"/>
                <a:ea typeface="HS Alwafa digital"/>
                <a:cs typeface="HS Alwafa digital"/>
                <a:sym typeface="HS Alwafa digital"/>
              </a:rPr>
              <a:t> assembly </a:t>
            </a:r>
            <a:r>
              <a:rPr lang="en-US" sz="3500" dirty="0" err="1">
                <a:solidFill>
                  <a:srgbClr val="000000"/>
                </a:solidFill>
                <a:latin typeface="+mj-lt"/>
                <a:ea typeface="HS Alwafa digital"/>
                <a:cs typeface="HS Alwafa digital"/>
                <a:sym typeface="HS Alwafa digital"/>
              </a:rPr>
              <a:t>adalah</a:t>
            </a:r>
            <a:r>
              <a:rPr lang="en-US" sz="3500" dirty="0">
                <a:solidFill>
                  <a:srgbClr val="000000"/>
                </a:solidFill>
                <a:latin typeface="+mj-lt"/>
                <a:ea typeface="HS Alwafa digital"/>
                <a:cs typeface="HS Alwafa digital"/>
                <a:sym typeface="HS Alwafa digital"/>
              </a:rPr>
              <a:t> </a:t>
            </a:r>
            <a:r>
              <a:rPr lang="en-US" sz="3500" dirty="0" err="1">
                <a:solidFill>
                  <a:srgbClr val="000000"/>
                </a:solidFill>
                <a:latin typeface="+mj-lt"/>
                <a:ea typeface="HS Alwafa digital"/>
                <a:cs typeface="HS Alwafa digital"/>
                <a:sym typeface="HS Alwafa digital"/>
              </a:rPr>
              <a:t>implementasi</a:t>
            </a:r>
            <a:r>
              <a:rPr lang="en-US" sz="3500" dirty="0">
                <a:solidFill>
                  <a:srgbClr val="000000"/>
                </a:solidFill>
                <a:latin typeface="+mj-lt"/>
                <a:ea typeface="HS Alwafa digital"/>
                <a:cs typeface="HS Alwafa digital"/>
                <a:sym typeface="HS Alwafa digital"/>
              </a:rPr>
              <a:t> </a:t>
            </a:r>
            <a:r>
              <a:rPr lang="en-US" sz="3500" dirty="0" err="1">
                <a:solidFill>
                  <a:srgbClr val="000000"/>
                </a:solidFill>
                <a:latin typeface="+mj-lt"/>
                <a:ea typeface="HS Alwafa digital"/>
                <a:cs typeface="HS Alwafa digital"/>
                <a:sym typeface="HS Alwafa digital"/>
              </a:rPr>
              <a:t>logika</a:t>
            </a:r>
            <a:r>
              <a:rPr lang="en-US" sz="3500" dirty="0">
                <a:solidFill>
                  <a:srgbClr val="000000"/>
                </a:solidFill>
                <a:latin typeface="+mj-lt"/>
                <a:ea typeface="HS Alwafa digital"/>
                <a:cs typeface="HS Alwafa digital"/>
                <a:sym typeface="HS Alwafa digital"/>
              </a:rPr>
              <a:t> untuk </a:t>
            </a:r>
            <a:r>
              <a:rPr lang="en-US" sz="3500" dirty="0" err="1">
                <a:solidFill>
                  <a:srgbClr val="000000"/>
                </a:solidFill>
                <a:latin typeface="+mj-lt"/>
                <a:ea typeface="HS Alwafa digital"/>
                <a:cs typeface="HS Alwafa digital"/>
                <a:sym typeface="HS Alwafa digital"/>
              </a:rPr>
              <a:t>menghasilkan</a:t>
            </a:r>
            <a:r>
              <a:rPr lang="en-US" sz="3500" dirty="0">
                <a:solidFill>
                  <a:srgbClr val="000000"/>
                </a:solidFill>
                <a:latin typeface="+mj-lt"/>
                <a:ea typeface="HS Alwafa digital"/>
                <a:cs typeface="HS Alwafa digital"/>
                <a:sym typeface="HS Alwafa digital"/>
              </a:rPr>
              <a:t> dan menampilkan </a:t>
            </a:r>
            <a:r>
              <a:rPr lang="en-US" sz="3500" dirty="0" err="1">
                <a:solidFill>
                  <a:srgbClr val="000000"/>
                </a:solidFill>
                <a:latin typeface="+mj-lt"/>
                <a:ea typeface="HS Alwafa digital"/>
                <a:cs typeface="HS Alwafa digital"/>
                <a:sym typeface="HS Alwafa digital"/>
              </a:rPr>
              <a:t>hasil</a:t>
            </a:r>
            <a:r>
              <a:rPr lang="en-US" sz="3500" dirty="0">
                <a:solidFill>
                  <a:srgbClr val="000000"/>
                </a:solidFill>
                <a:latin typeface="+mj-lt"/>
                <a:ea typeface="HS Alwafa digital"/>
                <a:cs typeface="HS Alwafa digital"/>
                <a:sym typeface="HS Alwafa digital"/>
              </a:rPr>
              <a:t> </a:t>
            </a:r>
            <a:r>
              <a:rPr lang="en-US" sz="3500" dirty="0" err="1">
                <a:solidFill>
                  <a:srgbClr val="000000"/>
                </a:solidFill>
                <a:latin typeface="+mj-lt"/>
                <a:ea typeface="HS Alwafa digital"/>
                <a:cs typeface="HS Alwafa digital"/>
                <a:sym typeface="HS Alwafa digital"/>
              </a:rPr>
              <a:t>perkalian</a:t>
            </a:r>
            <a:r>
              <a:rPr lang="en-US" sz="3500" dirty="0">
                <a:solidFill>
                  <a:srgbClr val="000000"/>
                </a:solidFill>
                <a:latin typeface="+mj-lt"/>
                <a:ea typeface="HS Alwafa digital"/>
                <a:cs typeface="HS Alwafa digital"/>
                <a:sym typeface="HS Alwafa digital"/>
              </a:rPr>
              <a:t> </a:t>
            </a:r>
            <a:r>
              <a:rPr lang="en-US" sz="3500" dirty="0" err="1">
                <a:solidFill>
                  <a:srgbClr val="000000"/>
                </a:solidFill>
                <a:latin typeface="+mj-lt"/>
                <a:ea typeface="HS Alwafa digital"/>
                <a:cs typeface="HS Alwafa digital"/>
                <a:sym typeface="HS Alwafa digital"/>
              </a:rPr>
              <a:t>antara</a:t>
            </a:r>
            <a:r>
              <a:rPr lang="en-US" sz="3500" dirty="0">
                <a:solidFill>
                  <a:srgbClr val="000000"/>
                </a:solidFill>
                <a:latin typeface="+mj-lt"/>
                <a:ea typeface="HS Alwafa digital"/>
                <a:cs typeface="HS Alwafa digital"/>
                <a:sym typeface="HS Alwafa digital"/>
              </a:rPr>
              <a:t> dua angka </a:t>
            </a:r>
            <a:r>
              <a:rPr lang="en-US" sz="3500" dirty="0" err="1">
                <a:solidFill>
                  <a:srgbClr val="000000"/>
                </a:solidFill>
                <a:latin typeface="+mj-lt"/>
                <a:ea typeface="HS Alwafa digital"/>
                <a:cs typeface="HS Alwafa digital"/>
                <a:sym typeface="HS Alwafa digital"/>
              </a:rPr>
              <a:t>dalam</a:t>
            </a:r>
            <a:r>
              <a:rPr lang="en-US" sz="3500" dirty="0">
                <a:solidFill>
                  <a:srgbClr val="000000"/>
                </a:solidFill>
                <a:latin typeface="+mj-lt"/>
                <a:ea typeface="HS Alwafa digital"/>
                <a:cs typeface="HS Alwafa digital"/>
                <a:sym typeface="HS Alwafa digital"/>
              </a:rPr>
              <a:t> </a:t>
            </a:r>
            <a:r>
              <a:rPr lang="en-US" sz="3500" dirty="0" err="1">
                <a:solidFill>
                  <a:srgbClr val="000000"/>
                </a:solidFill>
                <a:latin typeface="+mj-lt"/>
                <a:ea typeface="HS Alwafa digital"/>
                <a:cs typeface="HS Alwafa digital"/>
                <a:sym typeface="HS Alwafa digital"/>
              </a:rPr>
              <a:t>rentang</a:t>
            </a:r>
            <a:r>
              <a:rPr lang="en-US" sz="3500" dirty="0">
                <a:solidFill>
                  <a:srgbClr val="000000"/>
                </a:solidFill>
                <a:latin typeface="+mj-lt"/>
                <a:ea typeface="HS Alwafa digital"/>
                <a:cs typeface="HS Alwafa digital"/>
                <a:sym typeface="HS Alwafa digital"/>
              </a:rPr>
              <a:t> </a:t>
            </a:r>
            <a:r>
              <a:rPr lang="en-US" sz="3500" dirty="0" err="1">
                <a:solidFill>
                  <a:srgbClr val="000000"/>
                </a:solidFill>
                <a:latin typeface="+mj-lt"/>
                <a:ea typeface="HS Alwafa digital"/>
                <a:cs typeface="HS Alwafa digital"/>
                <a:sym typeface="HS Alwafa digital"/>
              </a:rPr>
              <a:t>tertentu</a:t>
            </a:r>
            <a:r>
              <a:rPr lang="en-US" sz="3500" dirty="0">
                <a:solidFill>
                  <a:srgbClr val="000000"/>
                </a:solidFill>
                <a:latin typeface="+mj-lt"/>
                <a:ea typeface="HS Alwafa digital"/>
                <a:cs typeface="HS Alwafa digital"/>
                <a:sym typeface="HS Alwafa digital"/>
              </a:rPr>
              <a:t>. </a:t>
            </a:r>
            <a:r>
              <a:rPr lang="en-US" sz="3500" dirty="0" err="1">
                <a:solidFill>
                  <a:srgbClr val="000000"/>
                </a:solidFill>
                <a:latin typeface="+mj-lt"/>
                <a:ea typeface="HS Alwafa digital"/>
                <a:cs typeface="HS Alwafa digital"/>
                <a:sym typeface="HS Alwafa digital"/>
              </a:rPr>
              <a:t>pembuatan</a:t>
            </a:r>
            <a:r>
              <a:rPr lang="en-US" sz="3500" dirty="0">
                <a:solidFill>
                  <a:srgbClr val="000000"/>
                </a:solidFill>
                <a:latin typeface="+mj-lt"/>
                <a:ea typeface="HS Alwafa digital"/>
                <a:cs typeface="HS Alwafa digital"/>
                <a:sym typeface="HS Alwafa digital"/>
              </a:rPr>
              <a:t> </a:t>
            </a:r>
            <a:r>
              <a:rPr lang="en-US" sz="3500" dirty="0" err="1">
                <a:solidFill>
                  <a:srgbClr val="000000"/>
                </a:solidFill>
                <a:latin typeface="+mj-lt"/>
                <a:ea typeface="HS Alwafa digital"/>
                <a:cs typeface="HS Alwafa digital"/>
                <a:sym typeface="HS Alwafa digital"/>
              </a:rPr>
              <a:t>tabel</a:t>
            </a:r>
            <a:r>
              <a:rPr lang="en-US" sz="3500" dirty="0">
                <a:solidFill>
                  <a:srgbClr val="000000"/>
                </a:solidFill>
                <a:latin typeface="+mj-lt"/>
                <a:ea typeface="HS Alwafa digital"/>
                <a:cs typeface="HS Alwafa digital"/>
                <a:sym typeface="HS Alwafa digital"/>
              </a:rPr>
              <a:t> </a:t>
            </a:r>
            <a:r>
              <a:rPr lang="en-US" sz="3500" dirty="0" err="1">
                <a:solidFill>
                  <a:srgbClr val="000000"/>
                </a:solidFill>
                <a:latin typeface="+mj-lt"/>
                <a:ea typeface="HS Alwafa digital"/>
                <a:cs typeface="HS Alwafa digital"/>
                <a:sym typeface="HS Alwafa digital"/>
              </a:rPr>
              <a:t>perkalian</a:t>
            </a:r>
            <a:r>
              <a:rPr lang="en-US" sz="3500" dirty="0">
                <a:solidFill>
                  <a:srgbClr val="000000"/>
                </a:solidFill>
                <a:latin typeface="+mj-lt"/>
                <a:ea typeface="HS Alwafa digital"/>
                <a:cs typeface="HS Alwafa digital"/>
                <a:sym typeface="HS Alwafa digital"/>
              </a:rPr>
              <a:t> </a:t>
            </a:r>
            <a:r>
              <a:rPr lang="en-US" sz="3500" dirty="0" err="1">
                <a:solidFill>
                  <a:srgbClr val="000000"/>
                </a:solidFill>
                <a:latin typeface="+mj-lt"/>
                <a:ea typeface="HS Alwafa digital"/>
                <a:cs typeface="HS Alwafa digital"/>
                <a:sym typeface="HS Alwafa digital"/>
              </a:rPr>
              <a:t>melibatkan</a:t>
            </a:r>
            <a:r>
              <a:rPr lang="en-US" sz="3500" dirty="0">
                <a:solidFill>
                  <a:srgbClr val="000000"/>
                </a:solidFill>
                <a:latin typeface="+mj-lt"/>
                <a:ea typeface="HS Alwafa digital"/>
                <a:cs typeface="HS Alwafa digital"/>
                <a:sym typeface="HS Alwafa digital"/>
              </a:rPr>
              <a:t> </a:t>
            </a:r>
            <a:r>
              <a:rPr lang="en-US" sz="3500" dirty="0" err="1">
                <a:solidFill>
                  <a:srgbClr val="000000"/>
                </a:solidFill>
                <a:latin typeface="+mj-lt"/>
                <a:ea typeface="HS Alwafa digital"/>
                <a:cs typeface="HS Alwafa digital"/>
                <a:sym typeface="HS Alwafa digital"/>
              </a:rPr>
              <a:t>beberapa</a:t>
            </a:r>
            <a:r>
              <a:rPr lang="en-US" sz="3500" dirty="0">
                <a:solidFill>
                  <a:srgbClr val="000000"/>
                </a:solidFill>
                <a:latin typeface="+mj-lt"/>
                <a:ea typeface="HS Alwafa digital"/>
                <a:cs typeface="HS Alwafa digital"/>
                <a:sym typeface="HS Alwafa digital"/>
              </a:rPr>
              <a:t> </a:t>
            </a:r>
            <a:r>
              <a:rPr lang="en-US" sz="3500" dirty="0" err="1">
                <a:solidFill>
                  <a:srgbClr val="000000"/>
                </a:solidFill>
                <a:latin typeface="+mj-lt"/>
                <a:ea typeface="HS Alwafa digital"/>
                <a:cs typeface="HS Alwafa digital"/>
                <a:sym typeface="HS Alwafa digital"/>
              </a:rPr>
              <a:t>komponen</a:t>
            </a:r>
            <a:r>
              <a:rPr lang="en-US" sz="3500" dirty="0">
                <a:solidFill>
                  <a:srgbClr val="000000"/>
                </a:solidFill>
                <a:latin typeface="+mj-lt"/>
                <a:ea typeface="HS Alwafa digital"/>
                <a:cs typeface="HS Alwafa digital"/>
                <a:sym typeface="HS Alwafa digital"/>
              </a:rPr>
              <a:t> </a:t>
            </a:r>
            <a:r>
              <a:rPr lang="en-US" sz="3500" dirty="0" err="1">
                <a:solidFill>
                  <a:srgbClr val="000000"/>
                </a:solidFill>
                <a:latin typeface="+mj-lt"/>
                <a:ea typeface="HS Alwafa digital"/>
                <a:cs typeface="HS Alwafa digital"/>
                <a:sym typeface="HS Alwafa digital"/>
              </a:rPr>
              <a:t>penting</a:t>
            </a:r>
            <a:r>
              <a:rPr lang="en-US" sz="3500" dirty="0">
                <a:solidFill>
                  <a:srgbClr val="000000"/>
                </a:solidFill>
                <a:latin typeface="+mj-lt"/>
                <a:ea typeface="HS Alwafa digital"/>
                <a:cs typeface="HS Alwafa digital"/>
                <a:sym typeface="HS Alwafa digital"/>
              </a:rPr>
              <a:t> </a:t>
            </a:r>
            <a:r>
              <a:rPr lang="en-US" sz="3500" dirty="0" err="1">
                <a:solidFill>
                  <a:srgbClr val="000000"/>
                </a:solidFill>
                <a:latin typeface="+mj-lt"/>
                <a:ea typeface="HS Alwafa digital"/>
                <a:cs typeface="HS Alwafa digital"/>
                <a:sym typeface="HS Alwafa digital"/>
              </a:rPr>
              <a:t>seperti</a:t>
            </a:r>
            <a:r>
              <a:rPr lang="en-US" sz="3500" dirty="0">
                <a:solidFill>
                  <a:srgbClr val="000000"/>
                </a:solidFill>
                <a:latin typeface="+mj-lt"/>
                <a:ea typeface="HS Alwafa digital"/>
                <a:cs typeface="HS Alwafa digital"/>
                <a:sym typeface="HS Alwafa digital"/>
              </a:rPr>
              <a:t> register, loop, dan </a:t>
            </a:r>
            <a:r>
              <a:rPr lang="en-US" sz="3500" dirty="0" err="1">
                <a:solidFill>
                  <a:srgbClr val="000000"/>
                </a:solidFill>
                <a:latin typeface="+mj-lt"/>
                <a:ea typeface="HS Alwafa digital"/>
                <a:cs typeface="HS Alwafa digital"/>
                <a:sym typeface="HS Alwafa digital"/>
              </a:rPr>
              <a:t>intruksi</a:t>
            </a:r>
            <a:r>
              <a:rPr lang="en-US" sz="3500" dirty="0">
                <a:solidFill>
                  <a:srgbClr val="000000"/>
                </a:solidFill>
                <a:latin typeface="+mj-lt"/>
                <a:ea typeface="HS Alwafa digital"/>
                <a:cs typeface="HS Alwafa digital"/>
                <a:sym typeface="HS Alwafa digital"/>
              </a:rPr>
              <a:t> </a:t>
            </a:r>
            <a:r>
              <a:rPr lang="en-US" sz="3500" dirty="0" err="1">
                <a:solidFill>
                  <a:srgbClr val="000000"/>
                </a:solidFill>
                <a:latin typeface="+mj-lt"/>
                <a:ea typeface="HS Alwafa digital"/>
                <a:cs typeface="HS Alwafa digital"/>
                <a:sym typeface="HS Alwafa digital"/>
              </a:rPr>
              <a:t>aritmatika</a:t>
            </a:r>
            <a:r>
              <a:rPr lang="en-US" sz="3500" dirty="0">
                <a:solidFill>
                  <a:srgbClr val="000000"/>
                </a:solidFill>
                <a:latin typeface="+mj-lt"/>
                <a:ea typeface="HS Alwafa digital"/>
                <a:cs typeface="HS Alwafa digital"/>
                <a:sym typeface="HS Alwafa digital"/>
              </a:rPr>
              <a:t>.</a:t>
            </a:r>
          </a:p>
          <a:p>
            <a:pPr algn="l">
              <a:lnSpc>
                <a:spcPts val="4900"/>
              </a:lnSpc>
            </a:pPr>
            <a:endParaRPr lang="en-US" sz="3500" dirty="0">
              <a:solidFill>
                <a:srgbClr val="000000"/>
              </a:solidFill>
              <a:latin typeface="HS Alwafa digital"/>
              <a:ea typeface="HS Alwafa digital"/>
              <a:cs typeface="HS Alwafa digital"/>
              <a:sym typeface="HS Alwafa digital"/>
            </a:endParaRPr>
          </a:p>
        </p:txBody>
      </p:sp>
      <p:sp>
        <p:nvSpPr>
          <p:cNvPr id="7" name="Freeform 7"/>
          <p:cNvSpPr/>
          <p:nvPr/>
        </p:nvSpPr>
        <p:spPr>
          <a:xfrm>
            <a:off x="11827469" y="2867958"/>
            <a:ext cx="6288020" cy="4138660"/>
          </a:xfrm>
          <a:custGeom>
            <a:avLst/>
            <a:gdLst/>
            <a:ahLst/>
            <a:cxnLst/>
            <a:rect l="l" t="t" r="r" b="b"/>
            <a:pathLst>
              <a:path w="6288020" h="4138660">
                <a:moveTo>
                  <a:pt x="0" y="0"/>
                </a:moveTo>
                <a:lnTo>
                  <a:pt x="6288020" y="0"/>
                </a:lnTo>
                <a:lnTo>
                  <a:pt x="6288020" y="4138660"/>
                </a:lnTo>
                <a:lnTo>
                  <a:pt x="0" y="413866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13325357" y="3852922"/>
            <a:ext cx="3051464" cy="3051464"/>
          </a:xfrm>
          <a:custGeom>
            <a:avLst/>
            <a:gdLst/>
            <a:ahLst/>
            <a:cxnLst/>
            <a:rect l="l" t="t" r="r" b="b"/>
            <a:pathLst>
              <a:path w="3051464" h="3051464">
                <a:moveTo>
                  <a:pt x="0" y="0"/>
                </a:moveTo>
                <a:lnTo>
                  <a:pt x="3051464" y="0"/>
                </a:lnTo>
                <a:lnTo>
                  <a:pt x="3051464" y="3051464"/>
                </a:lnTo>
                <a:lnTo>
                  <a:pt x="0" y="3051464"/>
                </a:lnTo>
                <a:lnTo>
                  <a:pt x="0" y="0"/>
                </a:lnTo>
                <a:close/>
              </a:path>
            </a:pathLst>
          </a:custGeom>
          <a:blipFill>
            <a:blip r:embed="rId8"/>
            <a:stretch>
              <a:fillRect l="-7559" t="-7301" r="-7686" b="-7585"/>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1648349" y="-183929"/>
            <a:ext cx="10654859" cy="10654859"/>
          </a:xfrm>
          <a:custGeom>
            <a:avLst/>
            <a:gdLst/>
            <a:ahLst/>
            <a:cxnLst/>
            <a:rect l="l" t="t" r="r" b="b"/>
            <a:pathLst>
              <a:path w="10654859" h="10654859">
                <a:moveTo>
                  <a:pt x="0" y="0"/>
                </a:moveTo>
                <a:lnTo>
                  <a:pt x="10654859" y="0"/>
                </a:lnTo>
                <a:lnTo>
                  <a:pt x="10654859" y="10654858"/>
                </a:lnTo>
                <a:lnTo>
                  <a:pt x="0" y="106548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028700" y="1028700"/>
            <a:ext cx="16340361" cy="8229600"/>
          </a:xfrm>
          <a:custGeom>
            <a:avLst/>
            <a:gdLst/>
            <a:ahLst/>
            <a:cxnLst/>
            <a:rect l="l" t="t" r="r" b="b"/>
            <a:pathLst>
              <a:path w="16340361" h="8229600">
                <a:moveTo>
                  <a:pt x="0" y="0"/>
                </a:moveTo>
                <a:lnTo>
                  <a:pt x="16340361" y="0"/>
                </a:lnTo>
                <a:lnTo>
                  <a:pt x="16340361" y="8229600"/>
                </a:lnTo>
                <a:lnTo>
                  <a:pt x="0" y="82296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227081" y="893688"/>
            <a:ext cx="587247" cy="8499623"/>
          </a:xfrm>
          <a:custGeom>
            <a:avLst/>
            <a:gdLst/>
            <a:ahLst/>
            <a:cxnLst/>
            <a:rect l="l" t="t" r="r" b="b"/>
            <a:pathLst>
              <a:path w="587247" h="8499623">
                <a:moveTo>
                  <a:pt x="0" y="0"/>
                </a:moveTo>
                <a:lnTo>
                  <a:pt x="587246" y="0"/>
                </a:lnTo>
                <a:lnTo>
                  <a:pt x="587246" y="8499624"/>
                </a:lnTo>
                <a:lnTo>
                  <a:pt x="0" y="849962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3727280" y="1285837"/>
            <a:ext cx="13368071" cy="1033132"/>
          </a:xfrm>
          <a:prstGeom prst="rect">
            <a:avLst/>
          </a:prstGeom>
        </p:spPr>
        <p:txBody>
          <a:bodyPr lIns="0" tIns="0" rIns="0" bIns="0" rtlCol="0" anchor="t">
            <a:spAutoFit/>
          </a:bodyPr>
          <a:lstStyle/>
          <a:p>
            <a:pPr algn="ctr">
              <a:lnSpc>
                <a:spcPts val="8492"/>
              </a:lnSpc>
            </a:pPr>
            <a:r>
              <a:rPr lang="en-US" sz="6065">
                <a:solidFill>
                  <a:srgbClr val="000000"/>
                </a:solidFill>
                <a:latin typeface="เอฟซี ฟาสท์เทสท์"/>
                <a:ea typeface="เอฟซี ฟาสท์เทสท์"/>
                <a:cs typeface="เอฟซี ฟาสท์เทสท์"/>
                <a:sym typeface="เอฟซี ฟาสท์เทสท์"/>
              </a:rPr>
              <a:t>TUJUAN PROGRAM</a:t>
            </a:r>
          </a:p>
        </p:txBody>
      </p:sp>
      <p:sp>
        <p:nvSpPr>
          <p:cNvPr id="6" name="TextBox 6"/>
          <p:cNvSpPr txBox="1"/>
          <p:nvPr/>
        </p:nvSpPr>
        <p:spPr>
          <a:xfrm>
            <a:off x="1340427" y="2557313"/>
            <a:ext cx="15754924" cy="4884158"/>
          </a:xfrm>
          <a:prstGeom prst="rect">
            <a:avLst/>
          </a:prstGeom>
        </p:spPr>
        <p:txBody>
          <a:bodyPr lIns="0" tIns="0" rIns="0" bIns="0" rtlCol="0" anchor="t">
            <a:spAutoFit/>
          </a:bodyPr>
          <a:lstStyle/>
          <a:p>
            <a:pPr marL="744672" lvl="1" indent="-372336" algn="l">
              <a:lnSpc>
                <a:spcPts val="4828"/>
              </a:lnSpc>
              <a:buFont typeface="Arial"/>
              <a:buChar char="•"/>
            </a:pPr>
            <a:r>
              <a:rPr lang="en-US" sz="3449" dirty="0" err="1">
                <a:solidFill>
                  <a:srgbClr val="000000"/>
                </a:solidFill>
                <a:latin typeface="+mj-lt"/>
                <a:ea typeface="HS Alwafa digital"/>
                <a:cs typeface="HS Alwafa digital"/>
                <a:sym typeface="HS Alwafa digital"/>
              </a:rPr>
              <a:t>Memahami</a:t>
            </a:r>
            <a:r>
              <a:rPr lang="en-US" sz="3449" dirty="0">
                <a:solidFill>
                  <a:srgbClr val="000000"/>
                </a:solidFill>
                <a:latin typeface="+mj-lt"/>
                <a:ea typeface="HS Alwafa digital"/>
                <a:cs typeface="HS Alwafa digital"/>
                <a:sym typeface="HS Alwafa digital"/>
              </a:rPr>
              <a:t> </a:t>
            </a:r>
            <a:r>
              <a:rPr lang="en-US" sz="3449" dirty="0" err="1">
                <a:solidFill>
                  <a:srgbClr val="000000"/>
                </a:solidFill>
                <a:latin typeface="+mj-lt"/>
                <a:ea typeface="HS Alwafa digital"/>
                <a:cs typeface="HS Alwafa digital"/>
                <a:sym typeface="HS Alwafa digital"/>
              </a:rPr>
              <a:t>Konsep</a:t>
            </a:r>
            <a:r>
              <a:rPr lang="en-US" sz="3449" dirty="0">
                <a:solidFill>
                  <a:srgbClr val="000000"/>
                </a:solidFill>
                <a:latin typeface="+mj-lt"/>
                <a:ea typeface="HS Alwafa digital"/>
                <a:cs typeface="HS Alwafa digital"/>
                <a:sym typeface="HS Alwafa digital"/>
              </a:rPr>
              <a:t> Dasar Assembly Language</a:t>
            </a:r>
          </a:p>
          <a:p>
            <a:pPr marL="744672" lvl="1" indent="-372336" algn="l">
              <a:lnSpc>
                <a:spcPts val="4828"/>
              </a:lnSpc>
              <a:buFont typeface="Arial"/>
              <a:buChar char="•"/>
            </a:pPr>
            <a:r>
              <a:rPr lang="en-US" sz="3449" dirty="0">
                <a:solidFill>
                  <a:srgbClr val="000000"/>
                </a:solidFill>
                <a:latin typeface="+mj-lt"/>
                <a:ea typeface="HS Alwafa digital"/>
                <a:cs typeface="HS Alwafa digital"/>
                <a:sym typeface="HS Alwafa digital"/>
              </a:rPr>
              <a:t>Program ini </a:t>
            </a:r>
            <a:r>
              <a:rPr lang="en-US" sz="3449" dirty="0" err="1">
                <a:solidFill>
                  <a:srgbClr val="000000"/>
                </a:solidFill>
                <a:latin typeface="+mj-lt"/>
                <a:ea typeface="HS Alwafa digital"/>
                <a:cs typeface="HS Alwafa digital"/>
                <a:sym typeface="HS Alwafa digital"/>
              </a:rPr>
              <a:t>dirancang</a:t>
            </a:r>
            <a:r>
              <a:rPr lang="en-US" sz="3449" dirty="0">
                <a:solidFill>
                  <a:srgbClr val="000000"/>
                </a:solidFill>
                <a:latin typeface="+mj-lt"/>
                <a:ea typeface="HS Alwafa digital"/>
                <a:cs typeface="HS Alwafa digital"/>
                <a:sym typeface="HS Alwafa digital"/>
              </a:rPr>
              <a:t> untuk </a:t>
            </a:r>
            <a:r>
              <a:rPr lang="en-US" sz="3449" dirty="0" err="1">
                <a:solidFill>
                  <a:srgbClr val="000000"/>
                </a:solidFill>
                <a:latin typeface="+mj-lt"/>
                <a:ea typeface="HS Alwafa digital"/>
                <a:cs typeface="HS Alwafa digital"/>
                <a:sym typeface="HS Alwafa digital"/>
              </a:rPr>
              <a:t>membantu</a:t>
            </a:r>
            <a:r>
              <a:rPr lang="en-US" sz="3449" dirty="0">
                <a:solidFill>
                  <a:srgbClr val="000000"/>
                </a:solidFill>
                <a:latin typeface="+mj-lt"/>
                <a:ea typeface="HS Alwafa digital"/>
                <a:cs typeface="HS Alwafa digital"/>
                <a:sym typeface="HS Alwafa digital"/>
              </a:rPr>
              <a:t> </a:t>
            </a:r>
            <a:r>
              <a:rPr lang="en-US" sz="3449" dirty="0" err="1">
                <a:solidFill>
                  <a:srgbClr val="000000"/>
                </a:solidFill>
                <a:latin typeface="+mj-lt"/>
                <a:ea typeface="HS Alwafa digital"/>
                <a:cs typeface="HS Alwafa digital"/>
                <a:sym typeface="HS Alwafa digital"/>
              </a:rPr>
              <a:t>pemula</a:t>
            </a:r>
            <a:r>
              <a:rPr lang="en-US" sz="3449" dirty="0">
                <a:solidFill>
                  <a:srgbClr val="000000"/>
                </a:solidFill>
                <a:latin typeface="+mj-lt"/>
                <a:ea typeface="HS Alwafa digital"/>
                <a:cs typeface="HS Alwafa digital"/>
                <a:sym typeface="HS Alwafa digital"/>
              </a:rPr>
              <a:t> </a:t>
            </a:r>
            <a:r>
              <a:rPr lang="en-US" sz="3449" dirty="0" err="1">
                <a:solidFill>
                  <a:srgbClr val="000000"/>
                </a:solidFill>
                <a:latin typeface="+mj-lt"/>
                <a:ea typeface="HS Alwafa digital"/>
                <a:cs typeface="HS Alwafa digital"/>
                <a:sym typeface="HS Alwafa digital"/>
              </a:rPr>
              <a:t>memahami</a:t>
            </a:r>
            <a:r>
              <a:rPr lang="en-US" sz="3449" dirty="0">
                <a:solidFill>
                  <a:srgbClr val="000000"/>
                </a:solidFill>
                <a:latin typeface="+mj-lt"/>
                <a:ea typeface="HS Alwafa digital"/>
                <a:cs typeface="HS Alwafa digital"/>
                <a:sym typeface="HS Alwafa digital"/>
              </a:rPr>
              <a:t> </a:t>
            </a:r>
            <a:r>
              <a:rPr lang="en-US" sz="3449" dirty="0" err="1">
                <a:solidFill>
                  <a:srgbClr val="000000"/>
                </a:solidFill>
                <a:latin typeface="+mj-lt"/>
                <a:ea typeface="HS Alwafa digital"/>
                <a:cs typeface="HS Alwafa digital"/>
                <a:sym typeface="HS Alwafa digital"/>
              </a:rPr>
              <a:t>struktur</a:t>
            </a:r>
            <a:r>
              <a:rPr lang="en-US" sz="3449" dirty="0">
                <a:solidFill>
                  <a:srgbClr val="000000"/>
                </a:solidFill>
                <a:latin typeface="+mj-lt"/>
                <a:ea typeface="HS Alwafa digital"/>
                <a:cs typeface="HS Alwafa digital"/>
                <a:sym typeface="HS Alwafa digital"/>
              </a:rPr>
              <a:t> dasar </a:t>
            </a:r>
            <a:r>
              <a:rPr lang="en-US" sz="3449" dirty="0" err="1">
                <a:solidFill>
                  <a:srgbClr val="000000"/>
                </a:solidFill>
                <a:latin typeface="+mj-lt"/>
                <a:ea typeface="HS Alwafa digital"/>
                <a:cs typeface="HS Alwafa digital"/>
                <a:sym typeface="HS Alwafa digital"/>
              </a:rPr>
              <a:t>bahasa</a:t>
            </a:r>
            <a:r>
              <a:rPr lang="en-US" sz="3449" dirty="0">
                <a:solidFill>
                  <a:srgbClr val="000000"/>
                </a:solidFill>
                <a:latin typeface="+mj-lt"/>
                <a:ea typeface="HS Alwafa digital"/>
                <a:cs typeface="HS Alwafa digital"/>
                <a:sym typeface="HS Alwafa digital"/>
              </a:rPr>
              <a:t> assembly, </a:t>
            </a:r>
            <a:r>
              <a:rPr lang="en-US" sz="3449" dirty="0" err="1">
                <a:solidFill>
                  <a:srgbClr val="000000"/>
                </a:solidFill>
                <a:latin typeface="+mj-lt"/>
                <a:ea typeface="HS Alwafa digital"/>
                <a:cs typeface="HS Alwafa digital"/>
                <a:sym typeface="HS Alwafa digital"/>
              </a:rPr>
              <a:t>seperti</a:t>
            </a:r>
            <a:r>
              <a:rPr lang="en-US" sz="3449" dirty="0">
                <a:solidFill>
                  <a:srgbClr val="000000"/>
                </a:solidFill>
                <a:latin typeface="+mj-lt"/>
                <a:ea typeface="HS Alwafa digital"/>
                <a:cs typeface="HS Alwafa digital"/>
                <a:sym typeface="HS Alwafa digital"/>
              </a:rPr>
              <a:t> </a:t>
            </a:r>
            <a:r>
              <a:rPr lang="en-US" sz="3449" dirty="0" err="1">
                <a:solidFill>
                  <a:srgbClr val="000000"/>
                </a:solidFill>
                <a:latin typeface="+mj-lt"/>
                <a:ea typeface="HS Alwafa digital"/>
                <a:cs typeface="HS Alwafa digital"/>
                <a:sym typeface="HS Alwafa digital"/>
              </a:rPr>
              <a:t>pengolahan</a:t>
            </a:r>
            <a:r>
              <a:rPr lang="en-US" sz="3449" dirty="0">
                <a:solidFill>
                  <a:srgbClr val="000000"/>
                </a:solidFill>
                <a:latin typeface="+mj-lt"/>
                <a:ea typeface="HS Alwafa digital"/>
                <a:cs typeface="HS Alwafa digital"/>
                <a:sym typeface="HS Alwafa digital"/>
              </a:rPr>
              <a:t> data </a:t>
            </a:r>
            <a:r>
              <a:rPr lang="en-US" sz="3449" dirty="0" err="1">
                <a:solidFill>
                  <a:srgbClr val="000000"/>
                </a:solidFill>
                <a:latin typeface="+mj-lt"/>
                <a:ea typeface="HS Alwafa digital"/>
                <a:cs typeface="HS Alwafa digital"/>
                <a:sym typeface="HS Alwafa digital"/>
              </a:rPr>
              <a:t>menggunakan</a:t>
            </a:r>
            <a:r>
              <a:rPr lang="en-US" sz="3449" dirty="0">
                <a:solidFill>
                  <a:srgbClr val="000000"/>
                </a:solidFill>
                <a:latin typeface="+mj-lt"/>
                <a:ea typeface="HS Alwafa digital"/>
                <a:cs typeface="HS Alwafa digital"/>
                <a:sym typeface="HS Alwafa digital"/>
              </a:rPr>
              <a:t> register dan  </a:t>
            </a:r>
            <a:r>
              <a:rPr lang="en-US" sz="3449" dirty="0" err="1">
                <a:solidFill>
                  <a:srgbClr val="000000"/>
                </a:solidFill>
                <a:latin typeface="+mj-lt"/>
                <a:ea typeface="HS Alwafa digital"/>
                <a:cs typeface="HS Alwafa digital"/>
                <a:sym typeface="HS Alwafa digital"/>
              </a:rPr>
              <a:t>memori</a:t>
            </a:r>
            <a:r>
              <a:rPr lang="en-US" sz="3449" dirty="0">
                <a:solidFill>
                  <a:srgbClr val="000000"/>
                </a:solidFill>
                <a:latin typeface="+mj-lt"/>
                <a:ea typeface="HS Alwafa digital"/>
                <a:cs typeface="HS Alwafa digital"/>
                <a:sym typeface="HS Alwafa digital"/>
              </a:rPr>
              <a:t>, </a:t>
            </a:r>
          </a:p>
          <a:p>
            <a:pPr marL="744672" lvl="1" indent="-372336" algn="l">
              <a:lnSpc>
                <a:spcPts val="4828"/>
              </a:lnSpc>
              <a:buFont typeface="Arial"/>
              <a:buChar char="•"/>
            </a:pPr>
            <a:r>
              <a:rPr lang="en-US" sz="3449" dirty="0" err="1">
                <a:solidFill>
                  <a:srgbClr val="000000"/>
                </a:solidFill>
                <a:latin typeface="+mj-lt"/>
                <a:ea typeface="HS Alwafa digital"/>
                <a:cs typeface="HS Alwafa digital"/>
                <a:sym typeface="HS Alwafa digital"/>
              </a:rPr>
              <a:t>Implementasi</a:t>
            </a:r>
            <a:r>
              <a:rPr lang="en-US" sz="3449" dirty="0">
                <a:solidFill>
                  <a:srgbClr val="000000"/>
                </a:solidFill>
                <a:latin typeface="+mj-lt"/>
                <a:ea typeface="HS Alwafa digital"/>
                <a:cs typeface="HS Alwafa digital"/>
                <a:sym typeface="HS Alwafa digital"/>
              </a:rPr>
              <a:t> </a:t>
            </a:r>
            <a:r>
              <a:rPr lang="en-US" sz="3449" dirty="0" err="1">
                <a:solidFill>
                  <a:srgbClr val="000000"/>
                </a:solidFill>
                <a:latin typeface="+mj-lt"/>
                <a:ea typeface="HS Alwafa digital"/>
                <a:cs typeface="HS Alwafa digital"/>
                <a:sym typeface="HS Alwafa digital"/>
              </a:rPr>
              <a:t>Operasi</a:t>
            </a:r>
            <a:r>
              <a:rPr lang="en-US" sz="3449" dirty="0">
                <a:solidFill>
                  <a:srgbClr val="000000"/>
                </a:solidFill>
                <a:latin typeface="+mj-lt"/>
                <a:ea typeface="HS Alwafa digital"/>
                <a:cs typeface="HS Alwafa digital"/>
                <a:sym typeface="HS Alwafa digital"/>
              </a:rPr>
              <a:t> </a:t>
            </a:r>
            <a:r>
              <a:rPr lang="en-US" sz="3449" dirty="0" err="1">
                <a:solidFill>
                  <a:srgbClr val="000000"/>
                </a:solidFill>
                <a:latin typeface="+mj-lt"/>
                <a:ea typeface="HS Alwafa digital"/>
                <a:cs typeface="HS Alwafa digital"/>
                <a:sym typeface="HS Alwafa digital"/>
              </a:rPr>
              <a:t>Aritmatika</a:t>
            </a:r>
            <a:r>
              <a:rPr lang="en-US" sz="3449" dirty="0">
                <a:solidFill>
                  <a:srgbClr val="000000"/>
                </a:solidFill>
                <a:latin typeface="+mj-lt"/>
                <a:ea typeface="HS Alwafa digital"/>
                <a:cs typeface="HS Alwafa digital"/>
                <a:sym typeface="HS Alwafa digital"/>
              </a:rPr>
              <a:t> Dasar</a:t>
            </a:r>
          </a:p>
          <a:p>
            <a:pPr marL="744672" lvl="1" indent="-372336" algn="l">
              <a:lnSpc>
                <a:spcPts val="4828"/>
              </a:lnSpc>
              <a:buFont typeface="Arial"/>
              <a:buChar char="•"/>
            </a:pPr>
            <a:r>
              <a:rPr lang="en-US" sz="3449" dirty="0">
                <a:solidFill>
                  <a:srgbClr val="000000"/>
                </a:solidFill>
                <a:latin typeface="Lora"/>
                <a:ea typeface="Lora"/>
                <a:cs typeface="Lora"/>
                <a:sym typeface="Lora"/>
              </a:rPr>
              <a:t>Program ini </a:t>
            </a:r>
            <a:r>
              <a:rPr lang="en-US" sz="3449" dirty="0" err="1">
                <a:solidFill>
                  <a:srgbClr val="000000"/>
                </a:solidFill>
                <a:latin typeface="Lora"/>
                <a:ea typeface="Lora"/>
                <a:cs typeface="Lora"/>
                <a:sym typeface="Lora"/>
              </a:rPr>
              <a:t>bertujuan</a:t>
            </a:r>
            <a:r>
              <a:rPr lang="en-US" sz="3449" dirty="0">
                <a:solidFill>
                  <a:srgbClr val="000000"/>
                </a:solidFill>
                <a:latin typeface="Lora"/>
                <a:ea typeface="Lora"/>
                <a:cs typeface="Lora"/>
                <a:sym typeface="Lora"/>
              </a:rPr>
              <a:t> untuk </a:t>
            </a:r>
            <a:r>
              <a:rPr lang="en-US" sz="3449" dirty="0" err="1">
                <a:solidFill>
                  <a:srgbClr val="000000"/>
                </a:solidFill>
                <a:latin typeface="Lora"/>
                <a:ea typeface="Lora"/>
                <a:cs typeface="Lora"/>
                <a:sym typeface="Lora"/>
              </a:rPr>
              <a:t>mempraktikkan</a:t>
            </a:r>
            <a:r>
              <a:rPr lang="en-US" sz="3449" dirty="0">
                <a:solidFill>
                  <a:srgbClr val="000000"/>
                </a:solidFill>
                <a:latin typeface="Lora"/>
                <a:ea typeface="Lora"/>
                <a:cs typeface="Lora"/>
                <a:sym typeface="Lora"/>
              </a:rPr>
              <a:t> </a:t>
            </a:r>
            <a:r>
              <a:rPr lang="en-US" sz="3449" dirty="0" err="1">
                <a:solidFill>
                  <a:srgbClr val="000000"/>
                </a:solidFill>
                <a:latin typeface="Lora"/>
                <a:ea typeface="Lora"/>
                <a:cs typeface="Lora"/>
                <a:sym typeface="Lora"/>
              </a:rPr>
              <a:t>implementasi</a:t>
            </a:r>
            <a:r>
              <a:rPr lang="en-US" sz="3449" dirty="0">
                <a:solidFill>
                  <a:srgbClr val="000000"/>
                </a:solidFill>
                <a:latin typeface="Lora"/>
                <a:ea typeface="Lora"/>
                <a:cs typeface="Lora"/>
                <a:sym typeface="Lora"/>
              </a:rPr>
              <a:t> </a:t>
            </a:r>
            <a:r>
              <a:rPr lang="en-US" sz="3449" dirty="0" err="1">
                <a:solidFill>
                  <a:srgbClr val="000000"/>
                </a:solidFill>
                <a:latin typeface="Lora"/>
                <a:ea typeface="Lora"/>
                <a:cs typeface="Lora"/>
                <a:sym typeface="Lora"/>
              </a:rPr>
              <a:t>operasi</a:t>
            </a:r>
            <a:r>
              <a:rPr lang="en-US" sz="3449" dirty="0">
                <a:solidFill>
                  <a:srgbClr val="000000"/>
                </a:solidFill>
                <a:latin typeface="Lora"/>
                <a:ea typeface="Lora"/>
                <a:cs typeface="Lora"/>
                <a:sym typeface="Lora"/>
              </a:rPr>
              <a:t> </a:t>
            </a:r>
            <a:r>
              <a:rPr lang="en-US" sz="3449" dirty="0" err="1">
                <a:solidFill>
                  <a:srgbClr val="000000"/>
                </a:solidFill>
                <a:latin typeface="Lora"/>
                <a:ea typeface="Lora"/>
                <a:cs typeface="Lora"/>
                <a:sym typeface="Lora"/>
              </a:rPr>
              <a:t>aritmatika</a:t>
            </a:r>
            <a:r>
              <a:rPr lang="en-US" sz="3449" dirty="0">
                <a:solidFill>
                  <a:srgbClr val="000000"/>
                </a:solidFill>
                <a:latin typeface="Lora"/>
                <a:ea typeface="Lora"/>
                <a:cs typeface="Lora"/>
                <a:sym typeface="Lora"/>
              </a:rPr>
              <a:t> dasar (</a:t>
            </a:r>
            <a:r>
              <a:rPr lang="en-US" sz="3449" dirty="0" err="1">
                <a:solidFill>
                  <a:srgbClr val="000000"/>
                </a:solidFill>
                <a:latin typeface="Lora"/>
                <a:ea typeface="Lora"/>
                <a:cs typeface="Lora"/>
                <a:sym typeface="Lora"/>
              </a:rPr>
              <a:t>penjumlahan</a:t>
            </a:r>
            <a:r>
              <a:rPr lang="en-US" sz="3449" dirty="0">
                <a:solidFill>
                  <a:srgbClr val="000000"/>
                </a:solidFill>
                <a:latin typeface="Lora"/>
                <a:ea typeface="Lora"/>
                <a:cs typeface="Lora"/>
                <a:sym typeface="Lora"/>
              </a:rPr>
              <a:t>, </a:t>
            </a:r>
            <a:r>
              <a:rPr lang="en-US" sz="3449" dirty="0" err="1">
                <a:solidFill>
                  <a:srgbClr val="000000"/>
                </a:solidFill>
                <a:latin typeface="Lora"/>
                <a:ea typeface="Lora"/>
                <a:cs typeface="Lora"/>
                <a:sym typeface="Lora"/>
              </a:rPr>
              <a:t>pengurangan</a:t>
            </a:r>
            <a:r>
              <a:rPr lang="en-US" sz="3449" dirty="0">
                <a:solidFill>
                  <a:srgbClr val="000000"/>
                </a:solidFill>
                <a:latin typeface="Lora"/>
                <a:ea typeface="Lora"/>
                <a:cs typeface="Lora"/>
                <a:sym typeface="Lora"/>
              </a:rPr>
              <a:t>, </a:t>
            </a:r>
            <a:r>
              <a:rPr lang="en-US" sz="3449" dirty="0" err="1">
                <a:solidFill>
                  <a:srgbClr val="000000"/>
                </a:solidFill>
                <a:latin typeface="Lora"/>
                <a:ea typeface="Lora"/>
                <a:cs typeface="Lora"/>
                <a:sym typeface="Lora"/>
              </a:rPr>
              <a:t>perkalian</a:t>
            </a:r>
            <a:r>
              <a:rPr lang="en-US" sz="3449" dirty="0">
                <a:solidFill>
                  <a:srgbClr val="000000"/>
                </a:solidFill>
                <a:latin typeface="Lora"/>
                <a:ea typeface="Lora"/>
                <a:cs typeface="Lora"/>
                <a:sym typeface="Lora"/>
              </a:rPr>
              <a:t>, dan </a:t>
            </a:r>
            <a:r>
              <a:rPr lang="en-US" sz="3449" dirty="0" err="1">
                <a:solidFill>
                  <a:srgbClr val="000000"/>
                </a:solidFill>
                <a:latin typeface="Lora"/>
                <a:ea typeface="Lora"/>
                <a:cs typeface="Lora"/>
                <a:sym typeface="Lora"/>
              </a:rPr>
              <a:t>pembagian</a:t>
            </a:r>
            <a:r>
              <a:rPr lang="en-US" sz="3449" dirty="0">
                <a:solidFill>
                  <a:srgbClr val="000000"/>
                </a:solidFill>
                <a:latin typeface="Lora"/>
                <a:ea typeface="Lora"/>
                <a:cs typeface="Lora"/>
                <a:sym typeface="Lora"/>
              </a:rPr>
              <a:t>) </a:t>
            </a:r>
            <a:r>
              <a:rPr lang="en-US" sz="3449" dirty="0" err="1">
                <a:solidFill>
                  <a:srgbClr val="000000"/>
                </a:solidFill>
                <a:latin typeface="Lora"/>
                <a:ea typeface="Lora"/>
                <a:cs typeface="Lora"/>
                <a:sym typeface="Lora"/>
              </a:rPr>
              <a:t>dalam</a:t>
            </a:r>
            <a:r>
              <a:rPr lang="en-US" sz="3449" dirty="0">
                <a:solidFill>
                  <a:srgbClr val="000000"/>
                </a:solidFill>
                <a:latin typeface="Lora"/>
                <a:ea typeface="Lora"/>
                <a:cs typeface="Lora"/>
                <a:sym typeface="Lora"/>
              </a:rPr>
              <a:t> </a:t>
            </a:r>
            <a:r>
              <a:rPr lang="en-US" sz="3449" dirty="0" err="1">
                <a:solidFill>
                  <a:srgbClr val="000000"/>
                </a:solidFill>
                <a:latin typeface="Lora"/>
                <a:ea typeface="Lora"/>
                <a:cs typeface="Lora"/>
                <a:sym typeface="Lora"/>
              </a:rPr>
              <a:t>lingkungan</a:t>
            </a:r>
            <a:r>
              <a:rPr lang="en-US" sz="3449" dirty="0">
                <a:solidFill>
                  <a:srgbClr val="000000"/>
                </a:solidFill>
                <a:latin typeface="Lora"/>
                <a:ea typeface="Lora"/>
                <a:cs typeface="Lora"/>
                <a:sym typeface="Lora"/>
              </a:rPr>
              <a:t> assembly, dengan </a:t>
            </a:r>
            <a:r>
              <a:rPr lang="en-US" sz="3449" dirty="0" err="1">
                <a:solidFill>
                  <a:srgbClr val="000000"/>
                </a:solidFill>
                <a:latin typeface="Lora"/>
                <a:ea typeface="Lora"/>
                <a:cs typeface="Lora"/>
                <a:sym typeface="Lora"/>
              </a:rPr>
              <a:t>logika</a:t>
            </a:r>
            <a:r>
              <a:rPr lang="en-US" sz="3449" dirty="0">
                <a:solidFill>
                  <a:srgbClr val="000000"/>
                </a:solidFill>
                <a:latin typeface="Lora"/>
                <a:ea typeface="Lora"/>
                <a:cs typeface="Lora"/>
                <a:sym typeface="Lora"/>
              </a:rPr>
              <a:t> </a:t>
            </a:r>
            <a:r>
              <a:rPr lang="en-US" sz="3449" dirty="0" err="1">
                <a:solidFill>
                  <a:srgbClr val="000000"/>
                </a:solidFill>
                <a:latin typeface="Lora"/>
                <a:ea typeface="Lora"/>
                <a:cs typeface="Lora"/>
                <a:sym typeface="Lora"/>
              </a:rPr>
              <a:t>sederhana</a:t>
            </a:r>
            <a:r>
              <a:rPr lang="en-US" sz="3449" dirty="0">
                <a:solidFill>
                  <a:srgbClr val="000000"/>
                </a:solidFill>
                <a:latin typeface="Lora"/>
                <a:ea typeface="Lora"/>
                <a:cs typeface="Lora"/>
                <a:sym typeface="Lora"/>
              </a:rPr>
              <a:t> yang </a:t>
            </a:r>
            <a:r>
              <a:rPr lang="en-US" sz="3449" dirty="0" err="1">
                <a:solidFill>
                  <a:srgbClr val="000000"/>
                </a:solidFill>
                <a:latin typeface="Lora"/>
                <a:ea typeface="Lora"/>
                <a:cs typeface="Lora"/>
                <a:sym typeface="Lora"/>
              </a:rPr>
              <a:t>sesuai</a:t>
            </a:r>
            <a:r>
              <a:rPr lang="en-US" sz="3449" dirty="0">
                <a:solidFill>
                  <a:srgbClr val="000000"/>
                </a:solidFill>
                <a:latin typeface="Lora"/>
                <a:ea typeface="Lora"/>
                <a:cs typeface="Lora"/>
                <a:sym typeface="Lora"/>
              </a:rPr>
              <a:t> untuk </a:t>
            </a:r>
            <a:r>
              <a:rPr lang="en-US" sz="3449" dirty="0" err="1">
                <a:solidFill>
                  <a:srgbClr val="000000"/>
                </a:solidFill>
                <a:latin typeface="Lora"/>
                <a:ea typeface="Lora"/>
                <a:cs typeface="Lora"/>
                <a:sym typeface="Lora"/>
              </a:rPr>
              <a:t>arsitektur</a:t>
            </a:r>
            <a:r>
              <a:rPr lang="en-US" sz="3449" dirty="0">
                <a:solidFill>
                  <a:srgbClr val="000000"/>
                </a:solidFill>
                <a:latin typeface="Lora"/>
                <a:ea typeface="Lora"/>
                <a:cs typeface="Lora"/>
                <a:sym typeface="Lora"/>
              </a:rPr>
              <a:t> </a:t>
            </a:r>
            <a:r>
              <a:rPr lang="en-US" sz="3449" dirty="0" err="1">
                <a:solidFill>
                  <a:srgbClr val="000000"/>
                </a:solidFill>
                <a:latin typeface="Lora"/>
                <a:ea typeface="Lora"/>
                <a:cs typeface="Lora"/>
                <a:sym typeface="Lora"/>
              </a:rPr>
              <a:t>prosesor</a:t>
            </a:r>
            <a:r>
              <a:rPr lang="en-US" sz="3449" dirty="0">
                <a:solidFill>
                  <a:srgbClr val="000000"/>
                </a:solidFill>
                <a:latin typeface="Lora"/>
                <a:ea typeface="Lora"/>
                <a:cs typeface="Lora"/>
                <a:sym typeface="Lora"/>
              </a:rPr>
              <a:t> 8086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1648349" y="-183929"/>
            <a:ext cx="10654859" cy="10654859"/>
          </a:xfrm>
          <a:custGeom>
            <a:avLst/>
            <a:gdLst/>
            <a:ahLst/>
            <a:cxnLst/>
            <a:rect l="l" t="t" r="r" b="b"/>
            <a:pathLst>
              <a:path w="10654859" h="10654859">
                <a:moveTo>
                  <a:pt x="0" y="0"/>
                </a:moveTo>
                <a:lnTo>
                  <a:pt x="10654859" y="0"/>
                </a:lnTo>
                <a:lnTo>
                  <a:pt x="10654859" y="10654858"/>
                </a:lnTo>
                <a:lnTo>
                  <a:pt x="0" y="106548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028700" y="1028700"/>
            <a:ext cx="16340361" cy="8229600"/>
          </a:xfrm>
          <a:custGeom>
            <a:avLst/>
            <a:gdLst/>
            <a:ahLst/>
            <a:cxnLst/>
            <a:rect l="l" t="t" r="r" b="b"/>
            <a:pathLst>
              <a:path w="16340361" h="8229600">
                <a:moveTo>
                  <a:pt x="0" y="0"/>
                </a:moveTo>
                <a:lnTo>
                  <a:pt x="16340361" y="0"/>
                </a:lnTo>
                <a:lnTo>
                  <a:pt x="16340361" y="8229600"/>
                </a:lnTo>
                <a:lnTo>
                  <a:pt x="0" y="82296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227081" y="893688"/>
            <a:ext cx="587247" cy="8499623"/>
          </a:xfrm>
          <a:custGeom>
            <a:avLst/>
            <a:gdLst/>
            <a:ahLst/>
            <a:cxnLst/>
            <a:rect l="l" t="t" r="r" b="b"/>
            <a:pathLst>
              <a:path w="587247" h="8499623">
                <a:moveTo>
                  <a:pt x="0" y="0"/>
                </a:moveTo>
                <a:lnTo>
                  <a:pt x="587246" y="0"/>
                </a:lnTo>
                <a:lnTo>
                  <a:pt x="587246" y="8499624"/>
                </a:lnTo>
                <a:lnTo>
                  <a:pt x="0" y="849962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4624873" y="1375316"/>
            <a:ext cx="12350906" cy="730497"/>
          </a:xfrm>
          <a:prstGeom prst="rect">
            <a:avLst/>
          </a:prstGeom>
        </p:spPr>
        <p:txBody>
          <a:bodyPr lIns="0" tIns="0" rIns="0" bIns="0" rtlCol="0" anchor="t">
            <a:spAutoFit/>
          </a:bodyPr>
          <a:lstStyle/>
          <a:p>
            <a:pPr algn="ctr">
              <a:lnSpc>
                <a:spcPts val="5936"/>
              </a:lnSpc>
            </a:pPr>
            <a:r>
              <a:rPr lang="en-US" sz="4240">
                <a:solidFill>
                  <a:srgbClr val="000000"/>
                </a:solidFill>
                <a:latin typeface="เอฟซี ฟาสท์เทสท์"/>
                <a:ea typeface="เอฟซี ฟาสท์เทสท์"/>
                <a:cs typeface="เอฟซี ฟาสท์เทสท์"/>
                <a:sym typeface="เอฟซี ฟาสท์เทสท์"/>
              </a:rPr>
              <a:t>KEKURANGAN ATAU KELEBIHAN</a:t>
            </a:r>
          </a:p>
        </p:txBody>
      </p:sp>
      <p:sp>
        <p:nvSpPr>
          <p:cNvPr id="6" name="TextBox 6"/>
          <p:cNvSpPr txBox="1"/>
          <p:nvPr/>
        </p:nvSpPr>
        <p:spPr>
          <a:xfrm>
            <a:off x="1491656" y="2835796"/>
            <a:ext cx="12144630" cy="3768725"/>
          </a:xfrm>
          <a:prstGeom prst="rect">
            <a:avLst/>
          </a:prstGeom>
        </p:spPr>
        <p:txBody>
          <a:bodyPr lIns="0" tIns="0" rIns="0" bIns="0" rtlCol="0" anchor="t">
            <a:spAutoFit/>
          </a:bodyPr>
          <a:lstStyle/>
          <a:p>
            <a:pPr algn="just">
              <a:lnSpc>
                <a:spcPts val="4900"/>
              </a:lnSpc>
            </a:pPr>
            <a:r>
              <a:rPr lang="en-US" sz="3500" dirty="0" err="1">
                <a:solidFill>
                  <a:srgbClr val="000000"/>
                </a:solidFill>
                <a:latin typeface="+mj-lt"/>
                <a:ea typeface="HS Alwafa digital"/>
                <a:cs typeface="HS Alwafa digital"/>
                <a:sym typeface="HS Alwafa digital"/>
              </a:rPr>
              <a:t>Kelebihan</a:t>
            </a:r>
            <a:endParaRPr lang="en-US" sz="3500" dirty="0">
              <a:solidFill>
                <a:srgbClr val="000000"/>
              </a:solidFill>
              <a:latin typeface="+mj-lt"/>
              <a:ea typeface="HS Alwafa digital"/>
              <a:cs typeface="HS Alwafa digital"/>
              <a:sym typeface="HS Alwafa digital"/>
            </a:endParaRPr>
          </a:p>
          <a:p>
            <a:pPr marL="755651" lvl="1" indent="-377825" algn="just">
              <a:lnSpc>
                <a:spcPts val="4900"/>
              </a:lnSpc>
              <a:buFont typeface="Arial"/>
              <a:buChar char="•"/>
            </a:pPr>
            <a:r>
              <a:rPr lang="en-US" sz="3500" dirty="0" err="1">
                <a:solidFill>
                  <a:srgbClr val="000000"/>
                </a:solidFill>
                <a:latin typeface="+mj-lt"/>
                <a:ea typeface="HS Alwafa digital"/>
                <a:cs typeface="HS Alwafa digital"/>
                <a:sym typeface="HS Alwafa digital"/>
              </a:rPr>
              <a:t>struktur</a:t>
            </a:r>
            <a:r>
              <a:rPr lang="en-US" sz="3500" dirty="0">
                <a:solidFill>
                  <a:srgbClr val="000000"/>
                </a:solidFill>
                <a:latin typeface="+mj-lt"/>
                <a:ea typeface="HS Alwafa digital"/>
                <a:cs typeface="HS Alwafa digital"/>
                <a:sym typeface="HS Alwafa digital"/>
              </a:rPr>
              <a:t>  </a:t>
            </a:r>
            <a:r>
              <a:rPr lang="en-US" sz="3500" dirty="0" err="1">
                <a:solidFill>
                  <a:srgbClr val="000000"/>
                </a:solidFill>
                <a:latin typeface="+mj-lt"/>
                <a:ea typeface="HS Alwafa digital"/>
                <a:cs typeface="HS Alwafa digital"/>
                <a:sym typeface="HS Alwafa digital"/>
              </a:rPr>
              <a:t>sederhana</a:t>
            </a:r>
            <a:r>
              <a:rPr lang="en-US" sz="3500" dirty="0">
                <a:solidFill>
                  <a:srgbClr val="000000"/>
                </a:solidFill>
                <a:latin typeface="+mj-lt"/>
                <a:ea typeface="HS Alwafa digital"/>
                <a:cs typeface="HS Alwafa digital"/>
                <a:sym typeface="HS Alwafa digital"/>
              </a:rPr>
              <a:t> dan </a:t>
            </a:r>
            <a:r>
              <a:rPr lang="en-US" sz="3500" dirty="0" err="1">
                <a:solidFill>
                  <a:srgbClr val="000000"/>
                </a:solidFill>
                <a:latin typeface="+mj-lt"/>
                <a:ea typeface="HS Alwafa digital"/>
                <a:cs typeface="HS Alwafa digital"/>
                <a:sym typeface="HS Alwafa digital"/>
              </a:rPr>
              <a:t>mudah</a:t>
            </a:r>
            <a:r>
              <a:rPr lang="en-US" sz="3500" dirty="0">
                <a:solidFill>
                  <a:srgbClr val="000000"/>
                </a:solidFill>
                <a:latin typeface="+mj-lt"/>
                <a:ea typeface="HS Alwafa digital"/>
                <a:cs typeface="HS Alwafa digital"/>
                <a:sym typeface="HS Alwafa digital"/>
              </a:rPr>
              <a:t> </a:t>
            </a:r>
            <a:r>
              <a:rPr lang="en-US" sz="3500" dirty="0" err="1">
                <a:solidFill>
                  <a:srgbClr val="000000"/>
                </a:solidFill>
                <a:latin typeface="+mj-lt"/>
                <a:ea typeface="HS Alwafa digital"/>
                <a:cs typeface="HS Alwafa digital"/>
                <a:sym typeface="HS Alwafa digital"/>
              </a:rPr>
              <a:t>dipahami</a:t>
            </a:r>
            <a:endParaRPr lang="en-US" sz="3500" dirty="0">
              <a:solidFill>
                <a:srgbClr val="000000"/>
              </a:solidFill>
              <a:latin typeface="+mj-lt"/>
              <a:ea typeface="HS Alwafa digital"/>
              <a:cs typeface="HS Alwafa digital"/>
              <a:sym typeface="HS Alwafa digital"/>
            </a:endParaRPr>
          </a:p>
          <a:p>
            <a:pPr marL="755651" lvl="1" indent="-377825" algn="just">
              <a:lnSpc>
                <a:spcPts val="4900"/>
              </a:lnSpc>
              <a:buFont typeface="Arial"/>
              <a:buChar char="•"/>
            </a:pPr>
            <a:r>
              <a:rPr lang="en-US" sz="3500" dirty="0" err="1">
                <a:solidFill>
                  <a:srgbClr val="000000"/>
                </a:solidFill>
                <a:latin typeface="+mj-lt"/>
                <a:ea typeface="HS Alwafa digital"/>
                <a:cs typeface="HS Alwafa digital"/>
                <a:sym typeface="HS Alwafa digital"/>
              </a:rPr>
              <a:t>mengunakan</a:t>
            </a:r>
            <a:r>
              <a:rPr lang="en-US" sz="3500" dirty="0">
                <a:solidFill>
                  <a:srgbClr val="000000"/>
                </a:solidFill>
                <a:latin typeface="+mj-lt"/>
                <a:ea typeface="HS Alwafa digital"/>
                <a:cs typeface="HS Alwafa digital"/>
                <a:sym typeface="HS Alwafa digital"/>
              </a:rPr>
              <a:t> </a:t>
            </a:r>
            <a:r>
              <a:rPr lang="en-US" sz="3500" dirty="0" err="1">
                <a:solidFill>
                  <a:srgbClr val="000000"/>
                </a:solidFill>
                <a:latin typeface="+mj-lt"/>
                <a:ea typeface="HS Alwafa digital"/>
                <a:cs typeface="HS Alwafa digital"/>
                <a:sym typeface="HS Alwafa digital"/>
              </a:rPr>
              <a:t>bahasa</a:t>
            </a:r>
            <a:r>
              <a:rPr lang="en-US" sz="3500" dirty="0">
                <a:solidFill>
                  <a:srgbClr val="000000"/>
                </a:solidFill>
                <a:latin typeface="+mj-lt"/>
                <a:ea typeface="HS Alwafa digital"/>
                <a:cs typeface="HS Alwafa digital"/>
                <a:sym typeface="HS Alwafa digital"/>
              </a:rPr>
              <a:t> yang </a:t>
            </a:r>
            <a:r>
              <a:rPr lang="en-US" sz="3500" dirty="0" err="1">
                <a:solidFill>
                  <a:srgbClr val="000000"/>
                </a:solidFill>
                <a:latin typeface="+mj-lt"/>
                <a:ea typeface="HS Alwafa digital"/>
                <a:cs typeface="HS Alwafa digital"/>
                <a:sym typeface="HS Alwafa digital"/>
              </a:rPr>
              <a:t>mudah</a:t>
            </a:r>
            <a:r>
              <a:rPr lang="en-US" sz="3500" dirty="0">
                <a:solidFill>
                  <a:srgbClr val="000000"/>
                </a:solidFill>
                <a:latin typeface="+mj-lt"/>
                <a:ea typeface="HS Alwafa digital"/>
                <a:cs typeface="HS Alwafa digital"/>
                <a:sym typeface="HS Alwafa digital"/>
              </a:rPr>
              <a:t> di </a:t>
            </a:r>
            <a:r>
              <a:rPr lang="en-US" sz="3500" dirty="0" err="1">
                <a:solidFill>
                  <a:srgbClr val="000000"/>
                </a:solidFill>
                <a:latin typeface="+mj-lt"/>
                <a:ea typeface="HS Alwafa digital"/>
                <a:cs typeface="HS Alwafa digital"/>
                <a:sym typeface="HS Alwafa digital"/>
              </a:rPr>
              <a:t>pahami</a:t>
            </a:r>
            <a:r>
              <a:rPr lang="en-US" sz="3500" dirty="0">
                <a:solidFill>
                  <a:srgbClr val="000000"/>
                </a:solidFill>
                <a:latin typeface="+mj-lt"/>
                <a:ea typeface="HS Alwafa digital"/>
                <a:cs typeface="HS Alwafa digital"/>
                <a:sym typeface="HS Alwafa digital"/>
              </a:rPr>
              <a:t> untuk </a:t>
            </a:r>
            <a:r>
              <a:rPr lang="en-US" sz="3500" dirty="0" err="1">
                <a:solidFill>
                  <a:srgbClr val="000000"/>
                </a:solidFill>
                <a:latin typeface="+mj-lt"/>
                <a:ea typeface="HS Alwafa digital"/>
                <a:cs typeface="HS Alwafa digital"/>
                <a:sym typeface="HS Alwafa digital"/>
              </a:rPr>
              <a:t>pemula</a:t>
            </a:r>
            <a:r>
              <a:rPr lang="en-US" sz="3500" dirty="0">
                <a:solidFill>
                  <a:srgbClr val="000000"/>
                </a:solidFill>
                <a:latin typeface="+mj-lt"/>
                <a:ea typeface="HS Alwafa digital"/>
                <a:cs typeface="HS Alwafa digital"/>
                <a:sym typeface="HS Alwafa digital"/>
              </a:rPr>
              <a:t> </a:t>
            </a:r>
            <a:r>
              <a:rPr lang="en-US" sz="3500" dirty="0" err="1">
                <a:solidFill>
                  <a:srgbClr val="000000"/>
                </a:solidFill>
                <a:latin typeface="+mj-lt"/>
                <a:ea typeface="HS Alwafa digital"/>
                <a:cs typeface="HS Alwafa digital"/>
                <a:sym typeface="HS Alwafa digital"/>
              </a:rPr>
              <a:t>dalam</a:t>
            </a:r>
            <a:r>
              <a:rPr lang="en-US" sz="3500" dirty="0">
                <a:solidFill>
                  <a:srgbClr val="000000"/>
                </a:solidFill>
                <a:latin typeface="+mj-lt"/>
                <a:ea typeface="HS Alwafa digital"/>
                <a:cs typeface="HS Alwafa digital"/>
                <a:sym typeface="HS Alwafa digital"/>
              </a:rPr>
              <a:t> assembly</a:t>
            </a:r>
          </a:p>
          <a:p>
            <a:pPr algn="just">
              <a:lnSpc>
                <a:spcPts val="4900"/>
              </a:lnSpc>
            </a:pPr>
            <a:r>
              <a:rPr lang="en-US" sz="3500" dirty="0" err="1">
                <a:solidFill>
                  <a:srgbClr val="000000"/>
                </a:solidFill>
                <a:latin typeface="+mj-lt"/>
                <a:ea typeface="HS Alwafa digital"/>
                <a:cs typeface="HS Alwafa digital"/>
                <a:sym typeface="HS Alwafa digital"/>
              </a:rPr>
              <a:t>kekurangan</a:t>
            </a:r>
            <a:endParaRPr lang="en-US" sz="3500" dirty="0">
              <a:solidFill>
                <a:srgbClr val="000000"/>
              </a:solidFill>
              <a:latin typeface="+mj-lt"/>
              <a:ea typeface="HS Alwafa digital"/>
              <a:cs typeface="HS Alwafa digital"/>
              <a:sym typeface="HS Alwafa digital"/>
            </a:endParaRPr>
          </a:p>
          <a:p>
            <a:pPr marL="755651" lvl="1" indent="-377825" algn="just">
              <a:lnSpc>
                <a:spcPts val="4900"/>
              </a:lnSpc>
              <a:buFont typeface="Arial"/>
              <a:buChar char="•"/>
            </a:pPr>
            <a:r>
              <a:rPr lang="en-US" sz="3500" dirty="0" err="1">
                <a:solidFill>
                  <a:srgbClr val="000000"/>
                </a:solidFill>
                <a:latin typeface="+mj-lt"/>
                <a:ea typeface="HS Alwafa digital"/>
                <a:cs typeface="HS Alwafa digital"/>
                <a:sym typeface="HS Alwafa digital"/>
              </a:rPr>
              <a:t>tidak</a:t>
            </a:r>
            <a:r>
              <a:rPr lang="en-US" sz="3500" dirty="0">
                <a:solidFill>
                  <a:srgbClr val="000000"/>
                </a:solidFill>
                <a:latin typeface="+mj-lt"/>
                <a:ea typeface="HS Alwafa digital"/>
                <a:cs typeface="HS Alwafa digital"/>
                <a:sym typeface="HS Alwafa digital"/>
              </a:rPr>
              <a:t> </a:t>
            </a:r>
            <a:r>
              <a:rPr lang="en-US" sz="3500" dirty="0" err="1">
                <a:solidFill>
                  <a:srgbClr val="000000"/>
                </a:solidFill>
                <a:latin typeface="+mj-lt"/>
                <a:ea typeface="HS Alwafa digital"/>
                <a:cs typeface="HS Alwafa digital"/>
                <a:sym typeface="HS Alwafa digital"/>
              </a:rPr>
              <a:t>ada</a:t>
            </a:r>
            <a:r>
              <a:rPr lang="en-US" sz="3500" dirty="0">
                <a:solidFill>
                  <a:srgbClr val="000000"/>
                </a:solidFill>
                <a:latin typeface="+mj-lt"/>
                <a:ea typeface="HS Alwafa digital"/>
                <a:cs typeface="HS Alwafa digital"/>
                <a:sym typeface="HS Alwafa digital"/>
              </a:rPr>
              <a:t> </a:t>
            </a:r>
            <a:r>
              <a:rPr lang="en-US" sz="3500" dirty="0" err="1">
                <a:solidFill>
                  <a:srgbClr val="000000"/>
                </a:solidFill>
                <a:latin typeface="+mj-lt"/>
                <a:ea typeface="HS Alwafa digital"/>
                <a:cs typeface="HS Alwafa digital"/>
                <a:sym typeface="HS Alwafa digital"/>
              </a:rPr>
              <a:t>mekanisme</a:t>
            </a:r>
            <a:r>
              <a:rPr lang="en-US" sz="3500" dirty="0">
                <a:solidFill>
                  <a:srgbClr val="000000"/>
                </a:solidFill>
                <a:latin typeface="+mj-lt"/>
                <a:ea typeface="HS Alwafa digital"/>
                <a:cs typeface="HS Alwafa digital"/>
                <a:sym typeface="HS Alwafa digital"/>
              </a:rPr>
              <a:t> </a:t>
            </a:r>
            <a:r>
              <a:rPr lang="en-US" sz="3500" dirty="0" err="1">
                <a:solidFill>
                  <a:srgbClr val="000000"/>
                </a:solidFill>
                <a:latin typeface="+mj-lt"/>
                <a:ea typeface="HS Alwafa digital"/>
                <a:cs typeface="HS Alwafa digital"/>
                <a:sym typeface="HS Alwafa digital"/>
              </a:rPr>
              <a:t>penanganan</a:t>
            </a:r>
            <a:r>
              <a:rPr lang="en-US" sz="3500" dirty="0">
                <a:solidFill>
                  <a:srgbClr val="000000"/>
                </a:solidFill>
                <a:latin typeface="+mj-lt"/>
                <a:ea typeface="HS Alwafa digital"/>
                <a:cs typeface="HS Alwafa digital"/>
                <a:sym typeface="HS Alwafa digital"/>
              </a:rPr>
              <a:t> </a:t>
            </a:r>
            <a:r>
              <a:rPr lang="en-US" sz="3500" dirty="0" err="1">
                <a:solidFill>
                  <a:srgbClr val="000000"/>
                </a:solidFill>
                <a:latin typeface="+mj-lt"/>
                <a:ea typeface="HS Alwafa digital"/>
                <a:cs typeface="HS Alwafa digital"/>
                <a:sym typeface="HS Alwafa digital"/>
              </a:rPr>
              <a:t>kesalahan</a:t>
            </a:r>
            <a:r>
              <a:rPr lang="en-US" sz="3500" dirty="0">
                <a:solidFill>
                  <a:srgbClr val="000000"/>
                </a:solidFill>
                <a:latin typeface="+mj-lt"/>
                <a:ea typeface="HS Alwafa digital"/>
                <a:cs typeface="HS Alwafa digital"/>
                <a:sym typeface="HS Alwafa digital"/>
              </a:rPr>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1648349" y="-183929"/>
            <a:ext cx="10654859" cy="10654859"/>
          </a:xfrm>
          <a:custGeom>
            <a:avLst/>
            <a:gdLst/>
            <a:ahLst/>
            <a:cxnLst/>
            <a:rect l="l" t="t" r="r" b="b"/>
            <a:pathLst>
              <a:path w="10654859" h="10654859">
                <a:moveTo>
                  <a:pt x="0" y="0"/>
                </a:moveTo>
                <a:lnTo>
                  <a:pt x="10654859" y="0"/>
                </a:lnTo>
                <a:lnTo>
                  <a:pt x="10654859" y="10654858"/>
                </a:lnTo>
                <a:lnTo>
                  <a:pt x="0" y="106548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028700" y="1028700"/>
            <a:ext cx="16340361" cy="8229600"/>
          </a:xfrm>
          <a:custGeom>
            <a:avLst/>
            <a:gdLst/>
            <a:ahLst/>
            <a:cxnLst/>
            <a:rect l="l" t="t" r="r" b="b"/>
            <a:pathLst>
              <a:path w="16340361" h="8229600">
                <a:moveTo>
                  <a:pt x="0" y="0"/>
                </a:moveTo>
                <a:lnTo>
                  <a:pt x="16340361" y="0"/>
                </a:lnTo>
                <a:lnTo>
                  <a:pt x="16340361" y="8229600"/>
                </a:lnTo>
                <a:lnTo>
                  <a:pt x="0" y="82296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227081" y="893688"/>
            <a:ext cx="587247" cy="8499623"/>
          </a:xfrm>
          <a:custGeom>
            <a:avLst/>
            <a:gdLst/>
            <a:ahLst/>
            <a:cxnLst/>
            <a:rect l="l" t="t" r="r" b="b"/>
            <a:pathLst>
              <a:path w="587247" h="8499623">
                <a:moveTo>
                  <a:pt x="0" y="0"/>
                </a:moveTo>
                <a:lnTo>
                  <a:pt x="587246" y="0"/>
                </a:lnTo>
                <a:lnTo>
                  <a:pt x="587246" y="8499624"/>
                </a:lnTo>
                <a:lnTo>
                  <a:pt x="0" y="849962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1484741" y="1165116"/>
            <a:ext cx="15428278" cy="1285875"/>
          </a:xfrm>
          <a:prstGeom prst="rect">
            <a:avLst/>
          </a:prstGeom>
        </p:spPr>
        <p:txBody>
          <a:bodyPr lIns="0" tIns="0" rIns="0" bIns="0" rtlCol="0" anchor="t">
            <a:spAutoFit/>
          </a:bodyPr>
          <a:lstStyle/>
          <a:p>
            <a:pPr algn="ctr">
              <a:lnSpc>
                <a:spcPts val="10500"/>
              </a:lnSpc>
            </a:pPr>
            <a:r>
              <a:rPr lang="en-US" sz="7500">
                <a:solidFill>
                  <a:srgbClr val="000000"/>
                </a:solidFill>
                <a:latin typeface="เอฟซี ฟาสท์เทสท์"/>
                <a:ea typeface="เอฟซี ฟาสท์เทสท์"/>
                <a:cs typeface="เอฟซี ฟาสท์เทสท์"/>
                <a:sym typeface="เอฟซี ฟาสท์เทสท์"/>
              </a:rPr>
              <a:t>TEORI DASAR</a:t>
            </a:r>
          </a:p>
        </p:txBody>
      </p:sp>
      <p:sp>
        <p:nvSpPr>
          <p:cNvPr id="6" name="TextBox 6"/>
          <p:cNvSpPr txBox="1"/>
          <p:nvPr/>
        </p:nvSpPr>
        <p:spPr>
          <a:xfrm>
            <a:off x="1484741" y="2854963"/>
            <a:ext cx="15491038" cy="5949602"/>
          </a:xfrm>
          <a:prstGeom prst="rect">
            <a:avLst/>
          </a:prstGeom>
        </p:spPr>
        <p:txBody>
          <a:bodyPr lIns="0" tIns="0" rIns="0" bIns="0" rtlCol="0" anchor="t">
            <a:spAutoFit/>
          </a:bodyPr>
          <a:lstStyle/>
          <a:p>
            <a:pPr algn="l">
              <a:lnSpc>
                <a:spcPts val="4720"/>
              </a:lnSpc>
            </a:pPr>
            <a:r>
              <a:rPr lang="en-US" sz="3371">
                <a:solidFill>
                  <a:srgbClr val="000000"/>
                </a:solidFill>
                <a:latin typeface="Lora"/>
                <a:ea typeface="Lora"/>
                <a:cs typeface="Lora"/>
                <a:sym typeface="Lora"/>
              </a:rPr>
              <a:t>Mikroprosesor 8086</a:t>
            </a:r>
          </a:p>
          <a:p>
            <a:pPr algn="l">
              <a:lnSpc>
                <a:spcPts val="4720"/>
              </a:lnSpc>
            </a:pPr>
            <a:r>
              <a:rPr lang="en-US" sz="3371">
                <a:solidFill>
                  <a:srgbClr val="000000"/>
                </a:solidFill>
                <a:latin typeface="Lora"/>
                <a:ea typeface="Lora"/>
                <a:cs typeface="Lora"/>
                <a:sym typeface="Lora"/>
              </a:rPr>
              <a:t>Mikroprosesor 8086 adalah unit pemrosesan sentral 16-bit yang diperkenalkan oleh Intel pada tahun 1978. Mikroprosesor ini memiliki set instruksi yang kaya untuk berbagai operasi aritmatika, logika, dan kontrol.</a:t>
            </a:r>
          </a:p>
          <a:p>
            <a:pPr algn="l">
              <a:lnSpc>
                <a:spcPts val="4720"/>
              </a:lnSpc>
            </a:pPr>
            <a:r>
              <a:rPr lang="en-US" sz="3371">
                <a:solidFill>
                  <a:srgbClr val="000000"/>
                </a:solidFill>
                <a:latin typeface="Lora"/>
                <a:ea typeface="Lora"/>
                <a:cs typeface="Lora"/>
                <a:sym typeface="Lora"/>
              </a:rPr>
              <a:t>Instruksi Dasar yang Digunakan</a:t>
            </a:r>
          </a:p>
          <a:p>
            <a:pPr algn="l">
              <a:lnSpc>
                <a:spcPts val="4720"/>
              </a:lnSpc>
            </a:pPr>
            <a:r>
              <a:rPr lang="en-US" sz="3371">
                <a:solidFill>
                  <a:srgbClr val="000000"/>
                </a:solidFill>
                <a:latin typeface="Lora"/>
                <a:ea typeface="Lora"/>
                <a:cs typeface="Lora"/>
                <a:sym typeface="Lora"/>
              </a:rPr>
              <a:t>1. MOV: Digunakan untuk memindahkan data dari satu lokasi ke lokasi lain.</a:t>
            </a:r>
          </a:p>
          <a:p>
            <a:pPr algn="l">
              <a:lnSpc>
                <a:spcPts val="4720"/>
              </a:lnSpc>
            </a:pPr>
            <a:r>
              <a:rPr lang="en-US" sz="3371">
                <a:solidFill>
                  <a:srgbClr val="000000"/>
                </a:solidFill>
                <a:latin typeface="Lora"/>
                <a:ea typeface="Lora"/>
                <a:cs typeface="Lora"/>
                <a:sym typeface="Lora"/>
              </a:rPr>
              <a:t>2. MUL: Digunakan untuk operasi perkalian.</a:t>
            </a:r>
          </a:p>
          <a:p>
            <a:pPr algn="l">
              <a:lnSpc>
                <a:spcPts val="4720"/>
              </a:lnSpc>
            </a:pPr>
            <a:r>
              <a:rPr lang="en-US" sz="3371">
                <a:solidFill>
                  <a:srgbClr val="000000"/>
                </a:solidFill>
                <a:latin typeface="Lora"/>
                <a:ea typeface="Lora"/>
                <a:cs typeface="Lora"/>
                <a:sym typeface="Lora"/>
              </a:rPr>
              <a:t>3. INT 21H: Digunakan untuk menampilkan karakter atau string pada layar.</a:t>
            </a:r>
          </a:p>
          <a:p>
            <a:pPr algn="l">
              <a:lnSpc>
                <a:spcPts val="4720"/>
              </a:lnSpc>
            </a:pPr>
            <a:r>
              <a:rPr lang="en-US" sz="3371">
                <a:solidFill>
                  <a:srgbClr val="000000"/>
                </a:solidFill>
                <a:latin typeface="Lora"/>
                <a:ea typeface="Lora"/>
                <a:cs typeface="Lora"/>
                <a:sym typeface="Lora"/>
              </a:rPr>
              <a:t>4. LOOP: Digunakan untuk membuat perulangan.</a:t>
            </a:r>
          </a:p>
          <a:p>
            <a:pPr algn="l">
              <a:lnSpc>
                <a:spcPts val="4720"/>
              </a:lnSpc>
            </a:pPr>
            <a:endParaRPr lang="en-US" sz="3371">
              <a:solidFill>
                <a:srgbClr val="000000"/>
              </a:solidFill>
              <a:latin typeface="Lora"/>
              <a:ea typeface="Lora"/>
              <a:cs typeface="Lora"/>
              <a:sym typeface="Lor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1648349" y="-183929"/>
            <a:ext cx="10654859" cy="10654859"/>
          </a:xfrm>
          <a:custGeom>
            <a:avLst/>
            <a:gdLst/>
            <a:ahLst/>
            <a:cxnLst/>
            <a:rect l="l" t="t" r="r" b="b"/>
            <a:pathLst>
              <a:path w="10654859" h="10654859">
                <a:moveTo>
                  <a:pt x="0" y="0"/>
                </a:moveTo>
                <a:lnTo>
                  <a:pt x="10654859" y="0"/>
                </a:lnTo>
                <a:lnTo>
                  <a:pt x="10654859" y="10654858"/>
                </a:lnTo>
                <a:lnTo>
                  <a:pt x="0" y="106548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028700" y="1028700"/>
            <a:ext cx="16340361" cy="8229600"/>
          </a:xfrm>
          <a:custGeom>
            <a:avLst/>
            <a:gdLst/>
            <a:ahLst/>
            <a:cxnLst/>
            <a:rect l="l" t="t" r="r" b="b"/>
            <a:pathLst>
              <a:path w="16340361" h="8229600">
                <a:moveTo>
                  <a:pt x="0" y="0"/>
                </a:moveTo>
                <a:lnTo>
                  <a:pt x="16340361" y="0"/>
                </a:lnTo>
                <a:lnTo>
                  <a:pt x="16340361" y="8229600"/>
                </a:lnTo>
                <a:lnTo>
                  <a:pt x="0" y="82296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227081" y="893688"/>
            <a:ext cx="587247" cy="8499623"/>
          </a:xfrm>
          <a:custGeom>
            <a:avLst/>
            <a:gdLst/>
            <a:ahLst/>
            <a:cxnLst/>
            <a:rect l="l" t="t" r="r" b="b"/>
            <a:pathLst>
              <a:path w="587247" h="8499623">
                <a:moveTo>
                  <a:pt x="0" y="0"/>
                </a:moveTo>
                <a:lnTo>
                  <a:pt x="587246" y="0"/>
                </a:lnTo>
                <a:lnTo>
                  <a:pt x="587246" y="8499624"/>
                </a:lnTo>
                <a:lnTo>
                  <a:pt x="0" y="849962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1831022" y="1198954"/>
            <a:ext cx="15428278" cy="1120724"/>
          </a:xfrm>
          <a:prstGeom prst="rect">
            <a:avLst/>
          </a:prstGeom>
        </p:spPr>
        <p:txBody>
          <a:bodyPr lIns="0" tIns="0" rIns="0" bIns="0" rtlCol="0" anchor="t">
            <a:spAutoFit/>
          </a:bodyPr>
          <a:lstStyle/>
          <a:p>
            <a:pPr algn="ctr">
              <a:lnSpc>
                <a:spcPts val="9100"/>
              </a:lnSpc>
            </a:pPr>
            <a:r>
              <a:rPr lang="en-US" sz="6500">
                <a:solidFill>
                  <a:srgbClr val="000000"/>
                </a:solidFill>
                <a:latin typeface="เอฟซี ฟาสท์เทสท์"/>
                <a:ea typeface="เอฟซี ฟาสท์เทสท์"/>
                <a:cs typeface="เอฟซี ฟาสท์เทสท์"/>
                <a:sym typeface="เอฟซี ฟาสท์เทสท์"/>
              </a:rPr>
              <a:t>KESIMPULAN</a:t>
            </a:r>
          </a:p>
        </p:txBody>
      </p:sp>
      <p:sp>
        <p:nvSpPr>
          <p:cNvPr id="6" name="TextBox 6"/>
          <p:cNvSpPr txBox="1"/>
          <p:nvPr/>
        </p:nvSpPr>
        <p:spPr>
          <a:xfrm>
            <a:off x="1831022" y="2627968"/>
            <a:ext cx="14010689" cy="6392683"/>
          </a:xfrm>
          <a:prstGeom prst="rect">
            <a:avLst/>
          </a:prstGeom>
        </p:spPr>
        <p:txBody>
          <a:bodyPr lIns="0" tIns="0" rIns="0" bIns="0" rtlCol="0" anchor="t">
            <a:spAutoFit/>
          </a:bodyPr>
          <a:lstStyle/>
          <a:p>
            <a:pPr algn="just">
              <a:lnSpc>
                <a:spcPts val="5697"/>
              </a:lnSpc>
            </a:pPr>
            <a:r>
              <a:rPr lang="en-US" sz="4069">
                <a:solidFill>
                  <a:srgbClr val="000000"/>
                </a:solidFill>
                <a:latin typeface="Lora"/>
                <a:ea typeface="Lora"/>
                <a:cs typeface="Lora"/>
                <a:sym typeface="Lora"/>
              </a:rPr>
              <a:t>Pembuatan program tabel perkalian menggunakan EMU8086 merupakan langkah awal untuk memahami dasar-dasar pemrograman assembly pada mikroprosesor 8086. Program ini menunjukkan bagaimana instruksi-instruksi sederhana dapat digabungkan untuk menghasilkan output yang lebih kompleks. Dengan memahami cara kerja mikroprosesor pada level rendah, pengguna dapat mengembangkan pemahaman yang lebih baik tentang cara kerja perangkat keras komputer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7967382" y="366991"/>
            <a:ext cx="8691334" cy="9553017"/>
          </a:xfrm>
          <a:custGeom>
            <a:avLst/>
            <a:gdLst/>
            <a:ahLst/>
            <a:cxnLst/>
            <a:rect l="l" t="t" r="r" b="b"/>
            <a:pathLst>
              <a:path w="8691334" h="9553017">
                <a:moveTo>
                  <a:pt x="0" y="0"/>
                </a:moveTo>
                <a:lnTo>
                  <a:pt x="8691334" y="0"/>
                </a:lnTo>
                <a:lnTo>
                  <a:pt x="8691334" y="9553018"/>
                </a:lnTo>
                <a:lnTo>
                  <a:pt x="0" y="9553018"/>
                </a:lnTo>
                <a:lnTo>
                  <a:pt x="0" y="0"/>
                </a:lnTo>
                <a:close/>
              </a:path>
            </a:pathLst>
          </a:custGeom>
          <a:blipFill>
            <a:blip r:embed="rId2"/>
            <a:stretch>
              <a:fillRect l="-611" t="-5278" r="-2320"/>
            </a:stretch>
          </a:blipFill>
        </p:spPr>
      </p:sp>
      <p:sp>
        <p:nvSpPr>
          <p:cNvPr id="3" name="Freeform 3"/>
          <p:cNvSpPr/>
          <p:nvPr/>
        </p:nvSpPr>
        <p:spPr>
          <a:xfrm>
            <a:off x="531940" y="366991"/>
            <a:ext cx="5284175" cy="3477948"/>
          </a:xfrm>
          <a:custGeom>
            <a:avLst/>
            <a:gdLst/>
            <a:ahLst/>
            <a:cxnLst/>
            <a:rect l="l" t="t" r="r" b="b"/>
            <a:pathLst>
              <a:path w="5284175" h="3477948">
                <a:moveTo>
                  <a:pt x="0" y="0"/>
                </a:moveTo>
                <a:lnTo>
                  <a:pt x="5284175" y="0"/>
                </a:lnTo>
                <a:lnTo>
                  <a:pt x="5284175" y="3477949"/>
                </a:lnTo>
                <a:lnTo>
                  <a:pt x="0" y="347794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D" dirty="0"/>
          </a:p>
        </p:txBody>
      </p:sp>
      <p:sp>
        <p:nvSpPr>
          <p:cNvPr id="4" name="TextBox 4"/>
          <p:cNvSpPr txBox="1"/>
          <p:nvPr/>
        </p:nvSpPr>
        <p:spPr>
          <a:xfrm>
            <a:off x="533400" y="1926652"/>
            <a:ext cx="6350066" cy="777713"/>
          </a:xfrm>
          <a:prstGeom prst="rect">
            <a:avLst/>
          </a:prstGeom>
        </p:spPr>
        <p:txBody>
          <a:bodyPr wrap="square" lIns="0" tIns="0" rIns="0" bIns="0" rtlCol="0" anchor="t">
            <a:spAutoFit/>
          </a:bodyPr>
          <a:lstStyle/>
          <a:p>
            <a:pPr algn="just">
              <a:lnSpc>
                <a:spcPts val="6251"/>
              </a:lnSpc>
            </a:pPr>
            <a:r>
              <a:rPr lang="en-US" sz="4465" dirty="0" err="1">
                <a:solidFill>
                  <a:srgbClr val="000000"/>
                </a:solidFill>
                <a:latin typeface="+mj-lt"/>
                <a:ea typeface="HS Alwafa digital"/>
                <a:cs typeface="HS Alwafa digital"/>
                <a:sym typeface="HS Alwafa digital"/>
              </a:rPr>
              <a:t>contoh</a:t>
            </a:r>
            <a:r>
              <a:rPr lang="en-US" sz="4465" dirty="0">
                <a:solidFill>
                  <a:srgbClr val="000000"/>
                </a:solidFill>
                <a:latin typeface="+mj-lt"/>
                <a:ea typeface="HS Alwafa digital"/>
                <a:cs typeface="HS Alwafa digital"/>
                <a:sym typeface="HS Alwafa digital"/>
              </a:rPr>
              <a:t> program --&gt;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7654948" y="366991"/>
            <a:ext cx="9861567" cy="8476517"/>
          </a:xfrm>
          <a:custGeom>
            <a:avLst/>
            <a:gdLst/>
            <a:ahLst/>
            <a:cxnLst/>
            <a:rect l="l" t="t" r="r" b="b"/>
            <a:pathLst>
              <a:path w="9861567" h="8476517">
                <a:moveTo>
                  <a:pt x="0" y="0"/>
                </a:moveTo>
                <a:lnTo>
                  <a:pt x="9861566" y="0"/>
                </a:lnTo>
                <a:lnTo>
                  <a:pt x="9861566" y="8476518"/>
                </a:lnTo>
                <a:lnTo>
                  <a:pt x="0" y="8476518"/>
                </a:lnTo>
                <a:lnTo>
                  <a:pt x="0" y="0"/>
                </a:lnTo>
                <a:close/>
              </a:path>
            </a:pathLst>
          </a:custGeom>
          <a:blipFill>
            <a:blip r:embed="rId2"/>
            <a:stretch>
              <a:fillRect r="-1706"/>
            </a:stretch>
          </a:blipFill>
        </p:spPr>
      </p:sp>
      <p:sp>
        <p:nvSpPr>
          <p:cNvPr id="3" name="Freeform 3"/>
          <p:cNvSpPr/>
          <p:nvPr/>
        </p:nvSpPr>
        <p:spPr>
          <a:xfrm>
            <a:off x="531940" y="366991"/>
            <a:ext cx="5284175" cy="3477948"/>
          </a:xfrm>
          <a:custGeom>
            <a:avLst/>
            <a:gdLst/>
            <a:ahLst/>
            <a:cxnLst/>
            <a:rect l="l" t="t" r="r" b="b"/>
            <a:pathLst>
              <a:path w="5284175" h="3477948">
                <a:moveTo>
                  <a:pt x="0" y="0"/>
                </a:moveTo>
                <a:lnTo>
                  <a:pt x="5284175" y="0"/>
                </a:lnTo>
                <a:lnTo>
                  <a:pt x="5284175" y="3477949"/>
                </a:lnTo>
                <a:lnTo>
                  <a:pt x="0" y="347794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531940" y="1926652"/>
            <a:ext cx="6405955" cy="757067"/>
          </a:xfrm>
          <a:prstGeom prst="rect">
            <a:avLst/>
          </a:prstGeom>
        </p:spPr>
        <p:txBody>
          <a:bodyPr lIns="0" tIns="0" rIns="0" bIns="0" rtlCol="0" anchor="t">
            <a:spAutoFit/>
          </a:bodyPr>
          <a:lstStyle/>
          <a:p>
            <a:pPr algn="just">
              <a:lnSpc>
                <a:spcPts val="6251"/>
              </a:lnSpc>
            </a:pPr>
            <a:r>
              <a:rPr lang="en-US" sz="4465" dirty="0" err="1">
                <a:solidFill>
                  <a:srgbClr val="000000"/>
                </a:solidFill>
                <a:latin typeface="+mj-lt"/>
                <a:ea typeface="HS Alwafa digital"/>
                <a:cs typeface="HS Alwafa digital"/>
                <a:sym typeface="HS Alwafa digital"/>
              </a:rPr>
              <a:t>contoh</a:t>
            </a:r>
            <a:r>
              <a:rPr lang="en-US" sz="4465" dirty="0">
                <a:solidFill>
                  <a:srgbClr val="000000"/>
                </a:solidFill>
                <a:latin typeface="+mj-lt"/>
                <a:ea typeface="HS Alwafa digital"/>
                <a:cs typeface="HS Alwafa digital"/>
                <a:sym typeface="HS Alwafa digital"/>
              </a:rPr>
              <a:t> program --&gt;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6446154" y="366991"/>
            <a:ext cx="11278888" cy="5793787"/>
          </a:xfrm>
          <a:custGeom>
            <a:avLst/>
            <a:gdLst/>
            <a:ahLst/>
            <a:cxnLst/>
            <a:rect l="l" t="t" r="r" b="b"/>
            <a:pathLst>
              <a:path w="11278888" h="5793787">
                <a:moveTo>
                  <a:pt x="0" y="0"/>
                </a:moveTo>
                <a:lnTo>
                  <a:pt x="11278889" y="0"/>
                </a:lnTo>
                <a:lnTo>
                  <a:pt x="11278889" y="5793787"/>
                </a:lnTo>
                <a:lnTo>
                  <a:pt x="0" y="5793787"/>
                </a:lnTo>
                <a:lnTo>
                  <a:pt x="0" y="0"/>
                </a:lnTo>
                <a:close/>
              </a:path>
            </a:pathLst>
          </a:custGeom>
          <a:blipFill>
            <a:blip r:embed="rId2"/>
            <a:stretch>
              <a:fillRect/>
            </a:stretch>
          </a:blipFill>
        </p:spPr>
      </p:sp>
      <p:sp>
        <p:nvSpPr>
          <p:cNvPr id="3" name="Freeform 3"/>
          <p:cNvSpPr/>
          <p:nvPr/>
        </p:nvSpPr>
        <p:spPr>
          <a:xfrm>
            <a:off x="531940" y="366991"/>
            <a:ext cx="5284175" cy="3477948"/>
          </a:xfrm>
          <a:custGeom>
            <a:avLst/>
            <a:gdLst/>
            <a:ahLst/>
            <a:cxnLst/>
            <a:rect l="l" t="t" r="r" b="b"/>
            <a:pathLst>
              <a:path w="5284175" h="3477948">
                <a:moveTo>
                  <a:pt x="0" y="0"/>
                </a:moveTo>
                <a:lnTo>
                  <a:pt x="5284175" y="0"/>
                </a:lnTo>
                <a:lnTo>
                  <a:pt x="5284175" y="3477949"/>
                </a:lnTo>
                <a:lnTo>
                  <a:pt x="0" y="347794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531940" y="1926652"/>
            <a:ext cx="6405955" cy="777713"/>
          </a:xfrm>
          <a:prstGeom prst="rect">
            <a:avLst/>
          </a:prstGeom>
        </p:spPr>
        <p:txBody>
          <a:bodyPr lIns="0" tIns="0" rIns="0" bIns="0" rtlCol="0" anchor="t">
            <a:spAutoFit/>
          </a:bodyPr>
          <a:lstStyle/>
          <a:p>
            <a:pPr algn="just">
              <a:lnSpc>
                <a:spcPts val="6251"/>
              </a:lnSpc>
            </a:pPr>
            <a:r>
              <a:rPr lang="en-US" sz="4465" dirty="0" err="1">
                <a:solidFill>
                  <a:srgbClr val="000000"/>
                </a:solidFill>
                <a:latin typeface="+mj-lt"/>
                <a:ea typeface="HS Alwafa digital"/>
                <a:cs typeface="HS Alwafa digital"/>
                <a:sym typeface="HS Alwafa digital"/>
              </a:rPr>
              <a:t>contoh</a:t>
            </a:r>
            <a:r>
              <a:rPr lang="en-US" sz="4465" dirty="0">
                <a:solidFill>
                  <a:srgbClr val="000000"/>
                </a:solidFill>
                <a:latin typeface="+mj-lt"/>
                <a:ea typeface="HS Alwafa digital"/>
                <a:cs typeface="HS Alwafa digital"/>
                <a:sym typeface="HS Alwafa digital"/>
              </a:rPr>
              <a:t> program </a:t>
            </a:r>
            <a:r>
              <a:rPr lang="en-US" sz="4465" dirty="0">
                <a:solidFill>
                  <a:srgbClr val="000000"/>
                </a:solidFill>
                <a:latin typeface="HS Alwafa digital"/>
                <a:ea typeface="HS Alwafa digital"/>
                <a:cs typeface="HS Alwafa digital"/>
                <a:sym typeface="HS Alwafa digital"/>
              </a:rPr>
              <a:t>--&gt;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flipH="1">
            <a:off x="16555767" y="9258300"/>
            <a:ext cx="775702" cy="593765"/>
          </a:xfrm>
          <a:custGeom>
            <a:avLst/>
            <a:gdLst/>
            <a:ahLst/>
            <a:cxnLst/>
            <a:rect l="l" t="t" r="r" b="b"/>
            <a:pathLst>
              <a:path w="775702" h="593765">
                <a:moveTo>
                  <a:pt x="775702" y="0"/>
                </a:moveTo>
                <a:lnTo>
                  <a:pt x="0" y="0"/>
                </a:lnTo>
                <a:lnTo>
                  <a:pt x="0" y="593765"/>
                </a:lnTo>
                <a:lnTo>
                  <a:pt x="775702" y="593765"/>
                </a:lnTo>
                <a:lnTo>
                  <a:pt x="775702"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3848247" y="0"/>
            <a:ext cx="10591506" cy="10287000"/>
          </a:xfrm>
          <a:custGeom>
            <a:avLst/>
            <a:gdLst/>
            <a:ahLst/>
            <a:cxnLst/>
            <a:rect l="l" t="t" r="r" b="b"/>
            <a:pathLst>
              <a:path w="10591506" h="10287000">
                <a:moveTo>
                  <a:pt x="0" y="0"/>
                </a:moveTo>
                <a:lnTo>
                  <a:pt x="10591506" y="0"/>
                </a:lnTo>
                <a:lnTo>
                  <a:pt x="10591506" y="10287000"/>
                </a:lnTo>
                <a:lnTo>
                  <a:pt x="0" y="10287000"/>
                </a:lnTo>
                <a:lnTo>
                  <a:pt x="0" y="0"/>
                </a:lnTo>
                <a:close/>
              </a:path>
            </a:pathLst>
          </a:custGeom>
          <a:blipFill>
            <a:blip r:embed="rId4">
              <a:alphaModFix amt="15000"/>
              <a:extLst>
                <a:ext uri="{96DAC541-7B7A-43D3-8B79-37D633B846F1}">
                  <asvg:svgBlip xmlns:asvg="http://schemas.microsoft.com/office/drawing/2016/SVG/main" r:embed="rId5"/>
                </a:ext>
              </a:extLst>
            </a:blip>
            <a:stretch>
              <a:fillRect/>
            </a:stretch>
          </a:blipFill>
        </p:spPr>
      </p:sp>
      <p:sp>
        <p:nvSpPr>
          <p:cNvPr id="4" name="Freeform 4"/>
          <p:cNvSpPr/>
          <p:nvPr/>
        </p:nvSpPr>
        <p:spPr>
          <a:xfrm>
            <a:off x="5673814" y="2089136"/>
            <a:ext cx="6940372" cy="5318060"/>
          </a:xfrm>
          <a:custGeom>
            <a:avLst/>
            <a:gdLst/>
            <a:ahLst/>
            <a:cxnLst/>
            <a:rect l="l" t="t" r="r" b="b"/>
            <a:pathLst>
              <a:path w="6940372" h="5318060">
                <a:moveTo>
                  <a:pt x="0" y="0"/>
                </a:moveTo>
                <a:lnTo>
                  <a:pt x="6940372" y="0"/>
                </a:lnTo>
                <a:lnTo>
                  <a:pt x="6940372" y="5318061"/>
                </a:lnTo>
                <a:lnTo>
                  <a:pt x="0" y="5318061"/>
                </a:lnTo>
                <a:lnTo>
                  <a:pt x="0" y="0"/>
                </a:lnTo>
                <a:close/>
              </a:path>
            </a:pathLst>
          </a:custGeom>
          <a:blipFill>
            <a:blip r:embed="rId6"/>
            <a:stretch>
              <a:fillRect/>
            </a:stretch>
          </a:blipFill>
        </p:spPr>
      </p:sp>
      <p:sp>
        <p:nvSpPr>
          <p:cNvPr id="5" name="TextBox 5"/>
          <p:cNvSpPr txBox="1"/>
          <p:nvPr/>
        </p:nvSpPr>
        <p:spPr>
          <a:xfrm>
            <a:off x="1429861" y="895350"/>
            <a:ext cx="15428278" cy="1193786"/>
          </a:xfrm>
          <a:prstGeom prst="rect">
            <a:avLst/>
          </a:prstGeom>
        </p:spPr>
        <p:txBody>
          <a:bodyPr lIns="0" tIns="0" rIns="0" bIns="0" rtlCol="0" anchor="t">
            <a:spAutoFit/>
          </a:bodyPr>
          <a:lstStyle/>
          <a:p>
            <a:pPr algn="ctr">
              <a:lnSpc>
                <a:spcPts val="9800"/>
              </a:lnSpc>
            </a:pPr>
            <a:r>
              <a:rPr lang="en-US" sz="7000">
                <a:solidFill>
                  <a:srgbClr val="FFFFFF"/>
                </a:solidFill>
                <a:latin typeface="เอฟซี ฟาสท์เทสท์"/>
                <a:ea typeface="เอฟซี ฟาสท์เทสท์"/>
                <a:cs typeface="เอฟซี ฟาสท์เทสท์"/>
                <a:sym typeface="เอฟซี ฟาสท์เทสท์"/>
              </a:rPr>
              <a:t>HASIL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028700" y="5512833"/>
            <a:ext cx="5680572" cy="5143500"/>
          </a:xfrm>
          <a:custGeom>
            <a:avLst/>
            <a:gdLst/>
            <a:ahLst/>
            <a:cxnLst/>
            <a:rect l="l" t="t" r="r" b="b"/>
            <a:pathLst>
              <a:path w="5680572" h="5143500">
                <a:moveTo>
                  <a:pt x="0" y="0"/>
                </a:moveTo>
                <a:lnTo>
                  <a:pt x="5680572" y="0"/>
                </a:lnTo>
                <a:lnTo>
                  <a:pt x="5680572" y="5143500"/>
                </a:lnTo>
                <a:lnTo>
                  <a:pt x="0" y="51435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1806315" y="-1160657"/>
            <a:ext cx="5680572" cy="5143500"/>
          </a:xfrm>
          <a:custGeom>
            <a:avLst/>
            <a:gdLst/>
            <a:ahLst/>
            <a:cxnLst/>
            <a:rect l="l" t="t" r="r" b="b"/>
            <a:pathLst>
              <a:path w="5680572" h="5143500">
                <a:moveTo>
                  <a:pt x="0" y="0"/>
                </a:moveTo>
                <a:lnTo>
                  <a:pt x="5680572" y="0"/>
                </a:lnTo>
                <a:lnTo>
                  <a:pt x="5680572" y="5143500"/>
                </a:lnTo>
                <a:lnTo>
                  <a:pt x="0" y="51435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3473216" y="1411093"/>
            <a:ext cx="11341569" cy="7464814"/>
          </a:xfrm>
          <a:custGeom>
            <a:avLst/>
            <a:gdLst/>
            <a:ahLst/>
            <a:cxnLst/>
            <a:rect l="l" t="t" r="r" b="b"/>
            <a:pathLst>
              <a:path w="11341569" h="7464814">
                <a:moveTo>
                  <a:pt x="0" y="0"/>
                </a:moveTo>
                <a:lnTo>
                  <a:pt x="11341568" y="0"/>
                </a:lnTo>
                <a:lnTo>
                  <a:pt x="11341568" y="7464814"/>
                </a:lnTo>
                <a:lnTo>
                  <a:pt x="0" y="746481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4199148" y="3932347"/>
            <a:ext cx="9889705" cy="3622135"/>
          </a:xfrm>
          <a:prstGeom prst="rect">
            <a:avLst/>
          </a:prstGeom>
        </p:spPr>
        <p:txBody>
          <a:bodyPr lIns="0" tIns="0" rIns="0" bIns="0" rtlCol="0" anchor="t">
            <a:spAutoFit/>
          </a:bodyPr>
          <a:lstStyle/>
          <a:p>
            <a:pPr algn="ctr">
              <a:lnSpc>
                <a:spcPts val="14267"/>
              </a:lnSpc>
            </a:pPr>
            <a:r>
              <a:rPr lang="en-US" sz="12515">
                <a:solidFill>
                  <a:srgbClr val="000000"/>
                </a:solidFill>
                <a:latin typeface="เอฟซี ฟาสท์เทสท์"/>
                <a:ea typeface="เอฟซี ฟาสท์เทสท์"/>
                <a:cs typeface="เอฟซี ฟาสท์เทสท์"/>
                <a:sym typeface="เอฟซี ฟาสท์เทสท์"/>
              </a:rPr>
              <a:t>TERIMA KASIH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TotalTime>
  <Words>291</Words>
  <Application>Microsoft Office PowerPoint</Application>
  <PresentationFormat>Custom</PresentationFormat>
  <Paragraphs>33</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HS Alwafa digital</vt:lpstr>
      <vt:lpstr>Lora</vt:lpstr>
      <vt:lpstr>เอฟซี ฟาสท์เทสท์</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Hijau dan Hitam Gaya Antarmuka Minimalis Laporan Kegiatan Presentasi</dc:title>
  <dc:creator>Eko Nugroho</dc:creator>
  <cp:lastModifiedBy>Eko Nugroho</cp:lastModifiedBy>
  <cp:revision>3</cp:revision>
  <dcterms:created xsi:type="dcterms:W3CDTF">2006-08-16T00:00:00Z</dcterms:created>
  <dcterms:modified xsi:type="dcterms:W3CDTF">2025-01-11T12:56:51Z</dcterms:modified>
  <dc:identifier>DAGb5JypIxw</dc:identifier>
</cp:coreProperties>
</file>